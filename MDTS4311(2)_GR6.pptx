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Roboto"/>
      <p:regular r:id="rId24"/>
      <p:bold r:id="rId25"/>
      <p:italic r:id="rId26"/>
      <p:boldItalic r:id="rId27"/>
    </p:embeddedFont>
    <p:embeddedFont>
      <p:font typeface="Lora"/>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F8D7ECB-FE79-4788-A643-F168B5DF984E}">
  <a:tblStyle styleId="{0F8D7ECB-FE79-4788-A643-F168B5DF984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Roboto-regular.fntdata"/><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italic.fntdata"/><Relationship Id="rId25" Type="http://schemas.openxmlformats.org/officeDocument/2006/relationships/font" Target="fonts/Roboto-bold.fntdata"/><Relationship Id="rId28" Type="http://schemas.openxmlformats.org/officeDocument/2006/relationships/font" Target="fonts/Lora-regular.fntdata"/><Relationship Id="rId27" Type="http://schemas.openxmlformats.org/officeDocument/2006/relationships/font" Target="fonts/Roboto-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Lora-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Lora-boldItalic.fntdata"/><Relationship Id="rId30" Type="http://schemas.openxmlformats.org/officeDocument/2006/relationships/font" Target="fonts/Lora-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9fd9952bc7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9fd9952bc7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9fd9952bc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9fd9952bc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9fd9952bc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9fd9952bc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9fd9952bc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9fd9952bc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9fd9952bc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9fd9952bc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a1b414f42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a1b414f42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9fd9952bc7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9fd9952bc7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9fd9952bc7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9fd9952bc7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9fd9952bc7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9fd9952bc7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9fd9952bc7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9fd9952bc7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9fd9952bc7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9fd9952bc7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9fd9952bc7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9fd9952bc7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9fd9952bc7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9fd9952bc7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9fd9952bc7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9fd9952bc7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9fd9952bc7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9fd9952bc7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a1bc61af1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a1bc61af1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www.kaggle.com/datasets/khushipitroda/stock-market-historical-data-of-top-10-companie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6.png"/><Relationship Id="rId7"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8.png"/><Relationship Id="rId6" Type="http://schemas.openxmlformats.org/officeDocument/2006/relationships/image" Target="../media/image10.png"/><Relationship Id="rId7"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patents.google.com/patent/US6877094B1/en" TargetMode="External"/><Relationship Id="rId4" Type="http://schemas.openxmlformats.org/officeDocument/2006/relationships/hyperlink" Target="https://towardsdatascience.com/complete-step-by-step-conjugate-gradient-algorithm-from-scratch-and-its-implementation-for-solving-3a4f9d1b4aa1" TargetMode="External"/><Relationship Id="rId5" Type="http://schemas.openxmlformats.org/officeDocument/2006/relationships/hyperlink" Target="https://www.sciencedirect.com/topics/mathematics/conjugate-gradient-method" TargetMode="External"/><Relationship Id="rId6" Type="http://schemas.openxmlformats.org/officeDocument/2006/relationships/hyperlink" Target="https://www.nasdaq.com/market-activity/historical-data" TargetMode="External"/><Relationship Id="rId7" Type="http://schemas.openxmlformats.org/officeDocument/2006/relationships/hyperlink" Target="https://github.com/SannidhyaDas/StockPriceOptimizer-CG-Fibonacci"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Custom Conjugate Gradient Optimization for Stock Price Prediction</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400"/>
              <a:t>An Application Of CG &amp; Fibonacci Method in Finance Domain</a:t>
            </a:r>
            <a:r>
              <a:rPr lang="en" sz="1800"/>
              <a:t> </a:t>
            </a:r>
            <a:endParaRPr sz="1800"/>
          </a:p>
        </p:txBody>
      </p:sp>
      <p:sp>
        <p:nvSpPr>
          <p:cNvPr id="56" name="Google Shape;56;p13"/>
          <p:cNvSpPr txBox="1"/>
          <p:nvPr/>
        </p:nvSpPr>
        <p:spPr>
          <a:xfrm>
            <a:off x="1572150" y="4323525"/>
            <a:ext cx="7572000" cy="6156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2"/>
              </a:buClr>
              <a:buSzPts val="1400"/>
              <a:buFont typeface="Lora"/>
              <a:buChar char="-"/>
            </a:pPr>
            <a:r>
              <a:rPr lang="en">
                <a:solidFill>
                  <a:schemeClr val="dk2"/>
                </a:solidFill>
                <a:latin typeface="Lora"/>
                <a:ea typeface="Lora"/>
                <a:cs typeface="Lora"/>
                <a:sym typeface="Lora"/>
              </a:rPr>
              <a:t>By Group 6: Sannidhya Das(419), Siddhartha Sen(423), Soumyadeep Roy(430), Suchibrata Patra(403), Dipanjan Chakraborty(437), Peyasi Mondal(420)</a:t>
            </a:r>
            <a:endParaRPr>
              <a:solidFill>
                <a:schemeClr val="dk2"/>
              </a:solidFill>
              <a:latin typeface="Lora"/>
              <a:ea typeface="Lora"/>
              <a:cs typeface="Lora"/>
              <a:sym typeface="Lor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1045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100" u="sng"/>
              <a:t>Introduction:</a:t>
            </a:r>
            <a:endParaRPr b="1" sz="2100" u="sng"/>
          </a:p>
        </p:txBody>
      </p:sp>
      <p:sp>
        <p:nvSpPr>
          <p:cNvPr id="62" name="Google Shape;62;p14"/>
          <p:cNvSpPr txBox="1"/>
          <p:nvPr>
            <p:ph idx="1" type="body"/>
          </p:nvPr>
        </p:nvSpPr>
        <p:spPr>
          <a:xfrm>
            <a:off x="311700" y="833750"/>
            <a:ext cx="8520600" cy="39906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0"/>
              </a:spcAft>
              <a:buClr>
                <a:schemeClr val="dk1"/>
              </a:buClr>
              <a:buSzPts val="1100"/>
              <a:buFont typeface="Arial"/>
              <a:buNone/>
            </a:pPr>
            <a:r>
              <a:rPr lang="en" sz="1700">
                <a:solidFill>
                  <a:srgbClr val="666666"/>
                </a:solidFill>
              </a:rPr>
              <a:t>In today’s dynamic financial markets, accurate stock price prediction has become essential for data-driven investment strategies. With increasing volatility and complex market behavior, developing robust predictive models that generalize across varying conditions is both a challenge and a necessity.</a:t>
            </a:r>
            <a:endParaRPr sz="1700">
              <a:solidFill>
                <a:srgbClr val="666666"/>
              </a:solidFill>
            </a:endParaRPr>
          </a:p>
          <a:p>
            <a:pPr indent="0" lvl="0" marL="0" rtl="0" algn="l">
              <a:spcBef>
                <a:spcPts val="1200"/>
              </a:spcBef>
              <a:spcAft>
                <a:spcPts val="0"/>
              </a:spcAft>
              <a:buClr>
                <a:schemeClr val="dk1"/>
              </a:buClr>
              <a:buSzPts val="1100"/>
              <a:buFont typeface="Arial"/>
              <a:buNone/>
            </a:pPr>
            <a:r>
              <a:rPr lang="en" sz="1700">
                <a:solidFill>
                  <a:srgbClr val="666666"/>
                </a:solidFill>
              </a:rPr>
              <a:t>This project focuses on </a:t>
            </a:r>
            <a:r>
              <a:rPr b="1" lang="en" sz="1700">
                <a:solidFill>
                  <a:srgbClr val="666666"/>
                </a:solidFill>
              </a:rPr>
              <a:t>weight optimization for stock price prediction</a:t>
            </a:r>
            <a:r>
              <a:rPr lang="en" sz="1700">
                <a:solidFill>
                  <a:srgbClr val="666666"/>
                </a:solidFill>
              </a:rPr>
              <a:t>, aiming to determine the </a:t>
            </a:r>
            <a:r>
              <a:rPr b="1" lang="en" sz="1700">
                <a:solidFill>
                  <a:srgbClr val="666666"/>
                </a:solidFill>
              </a:rPr>
              <a:t>optimal weight vector</a:t>
            </a:r>
            <a:r>
              <a:rPr lang="en" sz="1700">
                <a:solidFill>
                  <a:srgbClr val="666666"/>
                </a:solidFill>
              </a:rPr>
              <a:t> for a </a:t>
            </a:r>
            <a:r>
              <a:rPr b="1" lang="en" sz="1700">
                <a:solidFill>
                  <a:srgbClr val="666666"/>
                </a:solidFill>
              </a:rPr>
              <a:t>linear regression model</a:t>
            </a:r>
            <a:r>
              <a:rPr lang="en" sz="1700">
                <a:solidFill>
                  <a:srgbClr val="666666"/>
                </a:solidFill>
              </a:rPr>
              <a:t> that predicts normalized stock closing prices of companies such as </a:t>
            </a:r>
            <a:r>
              <a:rPr b="1" lang="en" sz="1700">
                <a:solidFill>
                  <a:srgbClr val="666666"/>
                </a:solidFill>
              </a:rPr>
              <a:t>MSFT, AAPL, NFLX etc</a:t>
            </a:r>
            <a:r>
              <a:rPr lang="en" sz="1700">
                <a:solidFill>
                  <a:srgbClr val="666666"/>
                </a:solidFill>
              </a:rPr>
              <a:t>. By optimizing model parameters, we seek to </a:t>
            </a:r>
            <a:r>
              <a:rPr b="1" lang="en" sz="1700">
                <a:solidFill>
                  <a:srgbClr val="666666"/>
                </a:solidFill>
              </a:rPr>
              <a:t>minimize prediction error</a:t>
            </a:r>
            <a:r>
              <a:rPr lang="en" sz="1700">
                <a:solidFill>
                  <a:srgbClr val="666666"/>
                </a:solidFill>
              </a:rPr>
              <a:t> and enhance forecasting accuracy.</a:t>
            </a:r>
            <a:endParaRPr sz="1700">
              <a:solidFill>
                <a:srgbClr val="666666"/>
              </a:solidFill>
            </a:endParaRPr>
          </a:p>
          <a:p>
            <a:pPr indent="0" lvl="0" marL="0" rtl="0" algn="l">
              <a:spcBef>
                <a:spcPts val="1200"/>
              </a:spcBef>
              <a:spcAft>
                <a:spcPts val="0"/>
              </a:spcAft>
              <a:buClr>
                <a:schemeClr val="dk1"/>
              </a:buClr>
              <a:buSzPts val="1100"/>
              <a:buFont typeface="Arial"/>
              <a:buNone/>
            </a:pPr>
            <a:r>
              <a:rPr lang="en" sz="1700">
                <a:solidFill>
                  <a:srgbClr val="666666"/>
                </a:solidFill>
              </a:rPr>
              <a:t>To achieve this, we employ </a:t>
            </a:r>
            <a:r>
              <a:rPr b="1" lang="en" sz="1700">
                <a:solidFill>
                  <a:srgbClr val="666666"/>
                </a:solidFill>
              </a:rPr>
              <a:t>numerical optimization techniques</a:t>
            </a:r>
            <a:r>
              <a:rPr lang="en" sz="1700">
                <a:solidFill>
                  <a:srgbClr val="666666"/>
                </a:solidFill>
              </a:rPr>
              <a:t> the </a:t>
            </a:r>
            <a:r>
              <a:rPr i="1" lang="en" sz="1700">
                <a:solidFill>
                  <a:srgbClr val="666666"/>
                </a:solidFill>
              </a:rPr>
              <a:t>Fibonacci Search Method</a:t>
            </a:r>
            <a:r>
              <a:rPr lang="en" sz="1700">
                <a:solidFill>
                  <a:srgbClr val="666666"/>
                </a:solidFill>
              </a:rPr>
              <a:t> and </a:t>
            </a:r>
            <a:r>
              <a:rPr i="1" lang="en" sz="1700">
                <a:solidFill>
                  <a:srgbClr val="666666"/>
                </a:solidFill>
              </a:rPr>
              <a:t>Conjugate Direction Method</a:t>
            </a:r>
            <a:r>
              <a:rPr lang="en" sz="1700">
                <a:solidFill>
                  <a:srgbClr val="666666"/>
                </a:solidFill>
              </a:rPr>
              <a:t> to efficiently minimize the </a:t>
            </a:r>
            <a:r>
              <a:rPr b="1" lang="en" sz="1700">
                <a:solidFill>
                  <a:srgbClr val="666666"/>
                </a:solidFill>
              </a:rPr>
              <a:t>Mean Squared Error (MSE)</a:t>
            </a:r>
            <a:r>
              <a:rPr lang="en" sz="1700">
                <a:solidFill>
                  <a:srgbClr val="666666"/>
                </a:solidFill>
              </a:rPr>
              <a:t> and compare their performance in convergence and accuracy.</a:t>
            </a:r>
            <a:endParaRPr sz="1700">
              <a:solidFill>
                <a:srgbClr val="666666"/>
              </a:solidFill>
            </a:endParaRPr>
          </a:p>
          <a:p>
            <a:pPr indent="0" lvl="0" marL="0" rtl="0" algn="l">
              <a:spcBef>
                <a:spcPts val="1200"/>
              </a:spcBef>
              <a:spcAft>
                <a:spcPts val="1200"/>
              </a:spcAft>
              <a:buNone/>
            </a:pPr>
            <a:r>
              <a:t/>
            </a:r>
            <a:endParaRPr sz="1700"/>
          </a:p>
        </p:txBody>
      </p:sp>
      <p:sp>
        <p:nvSpPr>
          <p:cNvPr id="63" name="Google Shape;63;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2432550"/>
            <a:ext cx="8520600" cy="457500"/>
          </a:xfrm>
          <a:prstGeom prst="rect">
            <a:avLst/>
          </a:prstGeom>
        </p:spPr>
        <p:txBody>
          <a:bodyPr anchorCtr="0" anchor="t" bIns="91425" lIns="91425" spcFirstLastPara="1" rIns="91425" wrap="square" tIns="91425">
            <a:normAutofit fontScale="90000"/>
          </a:bodyPr>
          <a:lstStyle/>
          <a:p>
            <a:pPr indent="0" lvl="0" marL="3200400" rtl="0" algn="l">
              <a:lnSpc>
                <a:spcPct val="115000"/>
              </a:lnSpc>
              <a:spcBef>
                <a:spcPts val="0"/>
              </a:spcBef>
              <a:spcAft>
                <a:spcPts val="0"/>
              </a:spcAft>
              <a:buNone/>
            </a:pPr>
            <a:r>
              <a:rPr b="1" lang="en" sz="2277"/>
              <a:t>    </a:t>
            </a:r>
            <a:r>
              <a:rPr b="1" lang="en" sz="2277" u="sng"/>
              <a:t>Objective</a:t>
            </a:r>
            <a:endParaRPr b="1" sz="2277" u="sng"/>
          </a:p>
          <a:p>
            <a:pPr indent="0" lvl="0" marL="0" rtl="0" algn="ctr">
              <a:lnSpc>
                <a:spcPct val="115000"/>
              </a:lnSpc>
              <a:spcBef>
                <a:spcPts val="0"/>
              </a:spcBef>
              <a:spcAft>
                <a:spcPts val="0"/>
              </a:spcAft>
              <a:buNone/>
            </a:pPr>
            <a:r>
              <a:t/>
            </a:r>
            <a:endParaRPr b="1" sz="2000"/>
          </a:p>
        </p:txBody>
      </p:sp>
      <p:sp>
        <p:nvSpPr>
          <p:cNvPr id="69" name="Google Shape;69;p15"/>
          <p:cNvSpPr txBox="1"/>
          <p:nvPr>
            <p:ph type="title"/>
          </p:nvPr>
        </p:nvSpPr>
        <p:spPr>
          <a:xfrm>
            <a:off x="300825" y="0"/>
            <a:ext cx="8520600" cy="572700"/>
          </a:xfrm>
          <a:prstGeom prst="rect">
            <a:avLst/>
          </a:prstGeom>
        </p:spPr>
        <p:txBody>
          <a:bodyPr anchorCtr="0" anchor="t" bIns="91425" lIns="91425" spcFirstLastPara="1" rIns="91425" wrap="square" tIns="91425">
            <a:normAutofit/>
          </a:bodyPr>
          <a:lstStyle/>
          <a:p>
            <a:pPr indent="0" lvl="0" marL="0" rtl="0" algn="ctr">
              <a:lnSpc>
                <a:spcPct val="115000"/>
              </a:lnSpc>
              <a:spcBef>
                <a:spcPts val="0"/>
              </a:spcBef>
              <a:spcAft>
                <a:spcPts val="0"/>
              </a:spcAft>
              <a:buClr>
                <a:schemeClr val="dk1"/>
              </a:buClr>
              <a:buSzPts val="1100"/>
              <a:buFont typeface="Arial"/>
              <a:buNone/>
            </a:pPr>
            <a:r>
              <a:rPr b="1" lang="en" sz="2000" u="sng"/>
              <a:t>Problem Statement</a:t>
            </a:r>
            <a:endParaRPr sz="3300" u="sng"/>
          </a:p>
        </p:txBody>
      </p:sp>
      <p:sp>
        <p:nvSpPr>
          <p:cNvPr id="70" name="Google Shape;70;p15"/>
          <p:cNvSpPr txBox="1"/>
          <p:nvPr>
            <p:ph idx="1" type="body"/>
          </p:nvPr>
        </p:nvSpPr>
        <p:spPr>
          <a:xfrm>
            <a:off x="197925" y="475450"/>
            <a:ext cx="8834100" cy="2020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400">
                <a:solidFill>
                  <a:srgbClr val="666666"/>
                </a:solidFill>
              </a:rPr>
              <a:t>Accurately predicting stock prices is a complex task that requires efficient and reliable optimization techniques. Traditional linear regression methods, while conceptually simple, can differ significantly in performance and accuracy depending on the optimization strategy used to estimate model parameters. In the context of financial modeling, it becomes essential to evaluate how different optimization algorithms; both analytical and iterative behave when applied to real stock data. There exists a need for a systematic framework that not only implements these methods but also provides a comparative understanding of their computational efficiency, convergence behavior, and predictive capability.</a:t>
            </a:r>
            <a:endParaRPr sz="1400">
              <a:solidFill>
                <a:srgbClr val="666666"/>
              </a:solidFill>
            </a:endParaRPr>
          </a:p>
        </p:txBody>
      </p:sp>
      <p:sp>
        <p:nvSpPr>
          <p:cNvPr id="71" name="Google Shape;71;p15"/>
          <p:cNvSpPr txBox="1"/>
          <p:nvPr>
            <p:ph idx="12" type="sldNum"/>
          </p:nvPr>
        </p:nvSpPr>
        <p:spPr>
          <a:xfrm>
            <a:off x="8483333" y="47498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2" name="Google Shape;72;p15"/>
          <p:cNvSpPr txBox="1"/>
          <p:nvPr/>
        </p:nvSpPr>
        <p:spPr>
          <a:xfrm>
            <a:off x="300825" y="2890050"/>
            <a:ext cx="8520600" cy="202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666666"/>
                </a:solidFill>
              </a:rPr>
              <a:t>The primary objective of this study is to develop and analyze the StockPriceOptimizer class, a Python-based framework designed to fit linear regression models to historical stock price data using three distinct optimization approaches: the analytical Least Squares method, Scipy’s Conjugate Gradient (CG) implementation, and a custom-built Conjugate Gradient algorithm. By implementing and comparing these methods, the framework aims to validate algorithmic correctness, highlight the mathematical principles behind each approach, and empirically assess their performance across diverse financial datasets. Ultimately, the goal is to provide deeper insights into the trade-offs between different optimization strategies in linear regression for financial modeling.</a:t>
            </a:r>
            <a:endParaRPr>
              <a:solidFill>
                <a:srgbClr val="666666"/>
              </a:solidFill>
            </a:endParaRPr>
          </a:p>
          <a:p>
            <a:pPr indent="0" lvl="0" marL="0" rtl="0" algn="l">
              <a:spcBef>
                <a:spcPts val="0"/>
              </a:spcBef>
              <a:spcAft>
                <a:spcPts val="0"/>
              </a:spcAft>
              <a:buNone/>
            </a:pPr>
            <a:r>
              <a:t/>
            </a:r>
            <a:endParaRPr sz="16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213975"/>
            <a:ext cx="8520600" cy="572700"/>
          </a:xfrm>
          <a:prstGeom prst="rect">
            <a:avLst/>
          </a:prstGeom>
        </p:spPr>
        <p:txBody>
          <a:bodyPr anchorCtr="0" anchor="t" bIns="91425" lIns="91425" spcFirstLastPara="1" rIns="91425" wrap="square" tIns="91425">
            <a:normAutofit/>
          </a:bodyPr>
          <a:lstStyle/>
          <a:p>
            <a:pPr indent="0" lvl="0" marL="0" rtl="0" algn="ctr">
              <a:lnSpc>
                <a:spcPct val="115000"/>
              </a:lnSpc>
              <a:spcBef>
                <a:spcPts val="0"/>
              </a:spcBef>
              <a:spcAft>
                <a:spcPts val="0"/>
              </a:spcAft>
              <a:buClr>
                <a:schemeClr val="dk1"/>
              </a:buClr>
              <a:buSzPts val="1100"/>
              <a:buFont typeface="Arial"/>
              <a:buNone/>
            </a:pPr>
            <a:r>
              <a:rPr b="1" lang="en" sz="2000" u="sng"/>
              <a:t>Scope and Significance</a:t>
            </a:r>
            <a:endParaRPr sz="3300" u="sng"/>
          </a:p>
        </p:txBody>
      </p:sp>
      <p:sp>
        <p:nvSpPr>
          <p:cNvPr id="78" name="Google Shape;78;p16"/>
          <p:cNvSpPr txBox="1"/>
          <p:nvPr>
            <p:ph idx="1" type="body"/>
          </p:nvPr>
        </p:nvSpPr>
        <p:spPr>
          <a:xfrm>
            <a:off x="311700" y="933600"/>
            <a:ext cx="8520600" cy="379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solidFill>
                  <a:srgbClr val="666666"/>
                </a:solidFill>
              </a:rPr>
              <a:t>The scope of this report extends beyond the mere implementation of regression algorithms it encompasses the full analytical lifecycle of evaluating optimization methods in a financial context. The StockPriceOptimizer class is designed to process real-world stock price data, construct linear models, and measure the performance of three optimization techniques under consistent experimental conditions. The analysis includes examining convergence behavior, computational efficiency, and model accuracy across multiple financial tickers.</a:t>
            </a:r>
            <a:endParaRPr sz="1600">
              <a:solidFill>
                <a:srgbClr val="666666"/>
              </a:solidFill>
            </a:endParaRPr>
          </a:p>
          <a:p>
            <a:pPr indent="0" lvl="0" marL="0" rtl="0" algn="l">
              <a:spcBef>
                <a:spcPts val="1200"/>
              </a:spcBef>
              <a:spcAft>
                <a:spcPts val="1200"/>
              </a:spcAft>
              <a:buClr>
                <a:schemeClr val="dk1"/>
              </a:buClr>
              <a:buSzPts val="1100"/>
              <a:buFont typeface="Arial"/>
              <a:buNone/>
            </a:pPr>
            <a:r>
              <a:rPr lang="en" sz="1600">
                <a:solidFill>
                  <a:srgbClr val="666666"/>
                </a:solidFill>
              </a:rPr>
              <a:t>The significance of this work lies in its ability to bridge theoretical understanding with practical application. By comparing both built-in and custom optimization routines, the study provides valuable insights into the strengths and limitations of different regression solvers. This not only aids in selecting the most suitable optimization approach for stock price modeling but also contributes to a deeper comprehension of how algorithmic design choices impact predictive performance in quantitative finance.</a:t>
            </a:r>
            <a:endParaRPr sz="1600">
              <a:solidFill>
                <a:srgbClr val="666666"/>
              </a:solidFill>
            </a:endParaRPr>
          </a:p>
        </p:txBody>
      </p:sp>
      <p:sp>
        <p:nvSpPr>
          <p:cNvPr id="79" name="Google Shape;79;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141050"/>
            <a:ext cx="85206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2100" u="sng"/>
              <a:t>About The Dataset</a:t>
            </a:r>
            <a:endParaRPr b="1" sz="2100" u="sng"/>
          </a:p>
        </p:txBody>
      </p:sp>
      <p:sp>
        <p:nvSpPr>
          <p:cNvPr id="85" name="Google Shape;85;p17"/>
          <p:cNvSpPr txBox="1"/>
          <p:nvPr>
            <p:ph idx="1" type="body"/>
          </p:nvPr>
        </p:nvSpPr>
        <p:spPr>
          <a:xfrm>
            <a:off x="311700" y="713750"/>
            <a:ext cx="8520600" cy="38550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Char char="●"/>
            </a:pPr>
            <a:r>
              <a:rPr lang="en" sz="1600">
                <a:solidFill>
                  <a:schemeClr val="dk1"/>
                </a:solidFill>
              </a:rPr>
              <a:t>The dataset contains </a:t>
            </a:r>
            <a:r>
              <a:rPr i="1" lang="en" sz="1600">
                <a:solidFill>
                  <a:schemeClr val="dk1"/>
                </a:solidFill>
              </a:rPr>
              <a:t>25,160</a:t>
            </a:r>
            <a:r>
              <a:rPr lang="en" sz="1600">
                <a:solidFill>
                  <a:schemeClr val="dk1"/>
                </a:solidFill>
              </a:rPr>
              <a:t> records of daily stock market data collected through web scraping from NASDAQ.</a:t>
            </a:r>
            <a:br>
              <a:rPr lang="en" sz="1600">
                <a:solidFill>
                  <a:schemeClr val="dk1"/>
                </a:solidFill>
              </a:rPr>
            </a:b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It covers 10 major companies i.e, Apple (AAPL), Microsoft (MSFT), Tesla (TSLA), Amazon (AMZN), Meta, Netflix (NFLX), Qualcomm (QCOM), Cisco (CSCO), Starbucks (SBUX), and AMD each contributing </a:t>
            </a:r>
            <a:r>
              <a:rPr i="1" lang="en" sz="1600">
                <a:solidFill>
                  <a:schemeClr val="dk1"/>
                </a:solidFill>
              </a:rPr>
              <a:t>2,516</a:t>
            </a:r>
            <a:r>
              <a:rPr lang="en" sz="1600">
                <a:solidFill>
                  <a:schemeClr val="dk1"/>
                </a:solidFill>
              </a:rPr>
              <a:t> records, ensuring a balanced dataset across firms.</a:t>
            </a:r>
            <a:br>
              <a:rPr lang="en" sz="1600">
                <a:solidFill>
                  <a:schemeClr val="dk1"/>
                </a:solidFill>
              </a:rPr>
            </a:b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Each record represents a company’s trading activity for a specific date, including Open, High, Low, Close/Last, and Volume, forming a time-series dataset ideal for stock trend modeling and optimization.</a:t>
            </a:r>
            <a:endParaRPr sz="1600">
              <a:solidFill>
                <a:schemeClr val="dk1"/>
              </a:solidFill>
            </a:endParaRPr>
          </a:p>
          <a:p>
            <a:pPr indent="-323850" lvl="0" marL="457200" rtl="0" algn="just">
              <a:spcBef>
                <a:spcPts val="0"/>
              </a:spcBef>
              <a:spcAft>
                <a:spcPts val="0"/>
              </a:spcAft>
              <a:buClr>
                <a:schemeClr val="dk1"/>
              </a:buClr>
              <a:buSzPts val="1500"/>
              <a:buChar char="●"/>
            </a:pPr>
            <a:r>
              <a:rPr lang="en" sz="1600">
                <a:solidFill>
                  <a:schemeClr val="dk1"/>
                </a:solidFill>
              </a:rPr>
              <a:t>Dataset link:</a:t>
            </a:r>
            <a:r>
              <a:rPr lang="en" sz="1500">
                <a:solidFill>
                  <a:schemeClr val="dk1"/>
                </a:solidFill>
              </a:rPr>
              <a:t> </a:t>
            </a:r>
            <a:r>
              <a:rPr lang="en" sz="1500" u="sng">
                <a:solidFill>
                  <a:srgbClr val="1155CC"/>
                </a:solidFill>
                <a:hlinkClick r:id="rId3">
                  <a:extLst>
                    <a:ext uri="{A12FA001-AC4F-418D-AE19-62706E023703}">
                      <ahyp:hlinkClr val="tx"/>
                    </a:ext>
                  </a:extLst>
                </a:hlinkClick>
              </a:rPr>
              <a:t>Stock Market: Historical Data of Top 10 Companies</a:t>
            </a:r>
            <a:endParaRPr sz="1500">
              <a:solidFill>
                <a:schemeClr val="dk1"/>
              </a:solidFill>
            </a:endParaRPr>
          </a:p>
          <a:p>
            <a:pPr indent="0" lvl="0" marL="457200" rtl="0" algn="just">
              <a:spcBef>
                <a:spcPts val="1200"/>
              </a:spcBef>
              <a:spcAft>
                <a:spcPts val="0"/>
              </a:spcAft>
              <a:buNone/>
            </a:pPr>
            <a:r>
              <a:t/>
            </a:r>
            <a:endParaRPr sz="1500">
              <a:solidFill>
                <a:schemeClr val="dk1"/>
              </a:solidFill>
            </a:endParaRPr>
          </a:p>
          <a:p>
            <a:pPr indent="0" lvl="0" marL="0" rtl="0" algn="l">
              <a:spcBef>
                <a:spcPts val="1200"/>
              </a:spcBef>
              <a:spcAft>
                <a:spcPts val="1200"/>
              </a:spcAft>
              <a:buNone/>
            </a:pPr>
            <a:r>
              <a:t/>
            </a:r>
            <a:endParaRPr/>
          </a:p>
        </p:txBody>
      </p:sp>
      <p:sp>
        <p:nvSpPr>
          <p:cNvPr id="86" name="Google Shape;86;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693900" y="507900"/>
            <a:ext cx="8198400" cy="36741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600"/>
              <a:t>Ticker-Level Filtering</a:t>
            </a:r>
            <a:endParaRPr b="1" sz="1600"/>
          </a:p>
          <a:p>
            <a:pPr indent="0" lvl="0" marL="0" rtl="0" algn="l">
              <a:lnSpc>
                <a:spcPct val="115000"/>
              </a:lnSpc>
              <a:spcBef>
                <a:spcPts val="0"/>
              </a:spcBef>
              <a:spcAft>
                <a:spcPts val="0"/>
              </a:spcAft>
              <a:buClr>
                <a:schemeClr val="dk1"/>
              </a:buClr>
              <a:buSzPts val="1100"/>
              <a:buFont typeface="Arial"/>
              <a:buNone/>
            </a:pPr>
            <a:r>
              <a:rPr lang="en" sz="1600">
                <a:solidFill>
                  <a:srgbClr val="666666"/>
                </a:solidFill>
              </a:rPr>
              <a:t>We subset the dataset to the chosen ticker symbol, which prevents cross-company mixing and ensures all model signals represent only the asset under study.</a:t>
            </a:r>
            <a:endParaRPr sz="1000">
              <a:solidFill>
                <a:srgbClr val="666666"/>
              </a:solidFill>
            </a:endParaRPr>
          </a:p>
          <a:p>
            <a:pPr indent="0" lvl="0" marL="0" rtl="0" algn="l">
              <a:lnSpc>
                <a:spcPct val="115000"/>
              </a:lnSpc>
              <a:spcBef>
                <a:spcPts val="0"/>
              </a:spcBef>
              <a:spcAft>
                <a:spcPts val="0"/>
              </a:spcAft>
              <a:buClr>
                <a:schemeClr val="dk1"/>
              </a:buClr>
              <a:buSzPts val="1100"/>
              <a:buFont typeface="Arial"/>
              <a:buNone/>
            </a:pPr>
            <a:r>
              <a:t/>
            </a:r>
            <a:endParaRPr sz="1000">
              <a:solidFill>
                <a:srgbClr val="666666"/>
              </a:solidFill>
            </a:endParaRPr>
          </a:p>
          <a:p>
            <a:pPr indent="0" lvl="0" marL="0" rtl="0" algn="l">
              <a:lnSpc>
                <a:spcPct val="115000"/>
              </a:lnSpc>
              <a:spcBef>
                <a:spcPts val="0"/>
              </a:spcBef>
              <a:spcAft>
                <a:spcPts val="0"/>
              </a:spcAft>
              <a:buClr>
                <a:schemeClr val="dk1"/>
              </a:buClr>
              <a:buSzPts val="1100"/>
              <a:buFont typeface="Arial"/>
              <a:buNone/>
            </a:pPr>
            <a:r>
              <a:rPr b="1" lang="en" sz="1600"/>
              <a:t>Numeric Normalization of OHLCV + Target</a:t>
            </a:r>
            <a:endParaRPr b="1" sz="1600"/>
          </a:p>
          <a:p>
            <a:pPr indent="0" lvl="0" marL="0" rtl="0" algn="l">
              <a:lnSpc>
                <a:spcPct val="115000"/>
              </a:lnSpc>
              <a:spcBef>
                <a:spcPts val="0"/>
              </a:spcBef>
              <a:spcAft>
                <a:spcPts val="0"/>
              </a:spcAft>
              <a:buClr>
                <a:schemeClr val="dk1"/>
              </a:buClr>
              <a:buSzPts val="1100"/>
              <a:buFont typeface="Arial"/>
              <a:buNone/>
            </a:pPr>
            <a:r>
              <a:rPr lang="en" sz="1600">
                <a:solidFill>
                  <a:srgbClr val="666666"/>
                </a:solidFill>
              </a:rPr>
              <a:t>Price and volume fields often arrive as formatted text (e.g., $123.45, 1,200,000). We remove currency symbols and commas convert values to numeric using coercion This ensures no string artifacts corrupt the computation.</a:t>
            </a:r>
            <a:endParaRPr sz="1000">
              <a:solidFill>
                <a:srgbClr val="666666"/>
              </a:solidFill>
            </a:endParaRPr>
          </a:p>
          <a:p>
            <a:pPr indent="0" lvl="0" marL="0" rtl="0" algn="l">
              <a:lnSpc>
                <a:spcPct val="115000"/>
              </a:lnSpc>
              <a:spcBef>
                <a:spcPts val="0"/>
              </a:spcBef>
              <a:spcAft>
                <a:spcPts val="0"/>
              </a:spcAft>
              <a:buClr>
                <a:schemeClr val="dk1"/>
              </a:buClr>
              <a:buSzPts val="1100"/>
              <a:buFont typeface="Arial"/>
              <a:buNone/>
            </a:pPr>
            <a:r>
              <a:t/>
            </a:r>
            <a:endParaRPr sz="1000">
              <a:solidFill>
                <a:srgbClr val="666666"/>
              </a:solidFill>
            </a:endParaRPr>
          </a:p>
          <a:p>
            <a:pPr indent="0" lvl="0" marL="0" rtl="0" algn="l">
              <a:lnSpc>
                <a:spcPct val="115000"/>
              </a:lnSpc>
              <a:spcBef>
                <a:spcPts val="0"/>
              </a:spcBef>
              <a:spcAft>
                <a:spcPts val="0"/>
              </a:spcAft>
              <a:buClr>
                <a:schemeClr val="dk1"/>
              </a:buClr>
              <a:buSzPts val="1100"/>
              <a:buFont typeface="Arial"/>
              <a:buNone/>
            </a:pPr>
            <a:r>
              <a:rPr b="1" lang="en" sz="1600"/>
              <a:t>Date Standardization</a:t>
            </a:r>
            <a:endParaRPr b="1" sz="1600"/>
          </a:p>
          <a:p>
            <a:pPr indent="0" lvl="0" marL="0" rtl="0" algn="l">
              <a:lnSpc>
                <a:spcPct val="115000"/>
              </a:lnSpc>
              <a:spcBef>
                <a:spcPts val="0"/>
              </a:spcBef>
              <a:spcAft>
                <a:spcPts val="0"/>
              </a:spcAft>
              <a:buNone/>
            </a:pPr>
            <a:r>
              <a:rPr lang="en" sz="1600">
                <a:solidFill>
                  <a:srgbClr val="666666"/>
                </a:solidFill>
              </a:rPr>
              <a:t>The date column is parsed into a proper </a:t>
            </a:r>
            <a:r>
              <a:rPr i="1" lang="en" sz="1600">
                <a:solidFill>
                  <a:srgbClr val="666666"/>
                </a:solidFill>
              </a:rPr>
              <a:t>datetime</a:t>
            </a:r>
            <a:r>
              <a:rPr lang="en" sz="1600">
                <a:solidFill>
                  <a:srgbClr val="666666"/>
                </a:solidFill>
              </a:rPr>
              <a:t> type. Which enabled sorting, slicing, and temporal computation with full consistency.</a:t>
            </a:r>
            <a:endParaRPr sz="1000">
              <a:solidFill>
                <a:srgbClr val="666666"/>
              </a:solidFill>
            </a:endParaRPr>
          </a:p>
          <a:p>
            <a:pPr indent="0" lvl="0" marL="0" rtl="0" algn="l">
              <a:lnSpc>
                <a:spcPct val="115000"/>
              </a:lnSpc>
              <a:spcBef>
                <a:spcPts val="0"/>
              </a:spcBef>
              <a:spcAft>
                <a:spcPts val="0"/>
              </a:spcAft>
              <a:buNone/>
            </a:pPr>
            <a:r>
              <a:t/>
            </a:r>
            <a:endParaRPr sz="1000">
              <a:solidFill>
                <a:srgbClr val="666666"/>
              </a:solidFill>
            </a:endParaRPr>
          </a:p>
          <a:p>
            <a:pPr indent="0" lvl="0" marL="0" rtl="0" algn="l">
              <a:lnSpc>
                <a:spcPct val="115000"/>
              </a:lnSpc>
              <a:spcBef>
                <a:spcPts val="0"/>
              </a:spcBef>
              <a:spcAft>
                <a:spcPts val="0"/>
              </a:spcAft>
              <a:buClr>
                <a:schemeClr val="dk1"/>
              </a:buClr>
              <a:buSzPts val="1100"/>
              <a:buFont typeface="Arial"/>
              <a:buNone/>
            </a:pPr>
            <a:r>
              <a:rPr b="1" lang="en" sz="1600"/>
              <a:t>Missing-Value Enforcement</a:t>
            </a:r>
            <a:endParaRPr b="1" sz="1600"/>
          </a:p>
          <a:p>
            <a:pPr indent="0" lvl="0" marL="0" rtl="0" algn="l">
              <a:lnSpc>
                <a:spcPct val="115000"/>
              </a:lnSpc>
              <a:spcBef>
                <a:spcPts val="0"/>
              </a:spcBef>
              <a:spcAft>
                <a:spcPts val="0"/>
              </a:spcAft>
              <a:buClr>
                <a:schemeClr val="dk1"/>
              </a:buClr>
              <a:buSzPts val="1100"/>
              <a:buFont typeface="Arial"/>
              <a:buNone/>
            </a:pPr>
            <a:r>
              <a:rPr lang="en" sz="1600">
                <a:solidFill>
                  <a:srgbClr val="666666"/>
                </a:solidFill>
              </a:rPr>
              <a:t>Rows with missing required values (features or target) are dropped. Since regression cannot rely on incomplete observations, this avoids hidden distortions and preserves data integrity.</a:t>
            </a:r>
            <a:endParaRPr sz="1600">
              <a:solidFill>
                <a:srgbClr val="666666"/>
              </a:solidFill>
            </a:endParaRPr>
          </a:p>
          <a:p>
            <a:pPr indent="0" lvl="0" marL="0" rtl="0" algn="l">
              <a:lnSpc>
                <a:spcPct val="115000"/>
              </a:lnSpc>
              <a:spcBef>
                <a:spcPts val="0"/>
              </a:spcBef>
              <a:spcAft>
                <a:spcPts val="0"/>
              </a:spcAft>
              <a:buClr>
                <a:schemeClr val="dk1"/>
              </a:buClr>
              <a:buSzPts val="1100"/>
              <a:buFont typeface="Arial"/>
              <a:buNone/>
            </a:pPr>
            <a:r>
              <a:t/>
            </a:r>
            <a:endParaRPr sz="1200"/>
          </a:p>
        </p:txBody>
      </p:sp>
      <p:sp>
        <p:nvSpPr>
          <p:cNvPr id="92" name="Google Shape;9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93" name="Google Shape;93;p18"/>
          <p:cNvSpPr txBox="1"/>
          <p:nvPr/>
        </p:nvSpPr>
        <p:spPr>
          <a:xfrm>
            <a:off x="1040600" y="0"/>
            <a:ext cx="69285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100" u="sng">
                <a:solidFill>
                  <a:schemeClr val="dk1"/>
                </a:solidFill>
              </a:rPr>
              <a:t>Data Cleaning &amp; Preprocessing</a:t>
            </a:r>
            <a:endParaRPr b="1" sz="2100" u="sng">
              <a:solidFill>
                <a:schemeClr val="dk1"/>
              </a:solidFill>
            </a:endParaRPr>
          </a:p>
        </p:txBody>
      </p:sp>
      <p:grpSp>
        <p:nvGrpSpPr>
          <p:cNvPr id="94" name="Google Shape;94;p18"/>
          <p:cNvGrpSpPr/>
          <p:nvPr/>
        </p:nvGrpSpPr>
        <p:grpSpPr>
          <a:xfrm>
            <a:off x="416158" y="562189"/>
            <a:ext cx="244319" cy="280492"/>
            <a:chOff x="331817" y="790230"/>
            <a:chExt cx="244319" cy="280492"/>
          </a:xfrm>
        </p:grpSpPr>
        <p:sp>
          <p:nvSpPr>
            <p:cNvPr id="95" name="Google Shape;95;p18"/>
            <p:cNvSpPr/>
            <p:nvPr/>
          </p:nvSpPr>
          <p:spPr>
            <a:xfrm>
              <a:off x="348736" y="846022"/>
              <a:ext cx="227400" cy="22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chemeClr val="dk1"/>
                </a:highlight>
              </a:endParaRPr>
            </a:p>
          </p:txBody>
        </p:sp>
        <p:sp>
          <p:nvSpPr>
            <p:cNvPr id="96" name="Google Shape;96;p18"/>
            <p:cNvSpPr txBox="1"/>
            <p:nvPr/>
          </p:nvSpPr>
          <p:spPr>
            <a:xfrm>
              <a:off x="331817" y="790230"/>
              <a:ext cx="202800" cy="25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lt1"/>
                  </a:solidFill>
                </a:rPr>
                <a:t>1</a:t>
              </a:r>
              <a:endParaRPr b="1" sz="1000">
                <a:solidFill>
                  <a:schemeClr val="lt1"/>
                </a:solidFill>
              </a:endParaRPr>
            </a:p>
          </p:txBody>
        </p:sp>
      </p:grpSp>
      <p:grpSp>
        <p:nvGrpSpPr>
          <p:cNvPr id="97" name="Google Shape;97;p18"/>
          <p:cNvGrpSpPr/>
          <p:nvPr/>
        </p:nvGrpSpPr>
        <p:grpSpPr>
          <a:xfrm>
            <a:off x="416158" y="1584662"/>
            <a:ext cx="244319" cy="280492"/>
            <a:chOff x="331817" y="790230"/>
            <a:chExt cx="244319" cy="280492"/>
          </a:xfrm>
        </p:grpSpPr>
        <p:sp>
          <p:nvSpPr>
            <p:cNvPr id="98" name="Google Shape;98;p18"/>
            <p:cNvSpPr/>
            <p:nvPr/>
          </p:nvSpPr>
          <p:spPr>
            <a:xfrm>
              <a:off x="348736" y="846022"/>
              <a:ext cx="227400" cy="22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chemeClr val="dk1"/>
                </a:highlight>
              </a:endParaRPr>
            </a:p>
          </p:txBody>
        </p:sp>
        <p:sp>
          <p:nvSpPr>
            <p:cNvPr id="99" name="Google Shape;99;p18"/>
            <p:cNvSpPr txBox="1"/>
            <p:nvPr/>
          </p:nvSpPr>
          <p:spPr>
            <a:xfrm>
              <a:off x="331817" y="790230"/>
              <a:ext cx="202800" cy="25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lt1"/>
                  </a:solidFill>
                </a:rPr>
                <a:t>2</a:t>
              </a:r>
              <a:endParaRPr b="1" sz="1000">
                <a:solidFill>
                  <a:schemeClr val="lt1"/>
                </a:solidFill>
              </a:endParaRPr>
            </a:p>
          </p:txBody>
        </p:sp>
      </p:grpSp>
      <p:grpSp>
        <p:nvGrpSpPr>
          <p:cNvPr id="100" name="Google Shape;100;p18"/>
          <p:cNvGrpSpPr/>
          <p:nvPr/>
        </p:nvGrpSpPr>
        <p:grpSpPr>
          <a:xfrm>
            <a:off x="416152" y="2874658"/>
            <a:ext cx="244319" cy="280492"/>
            <a:chOff x="331817" y="790230"/>
            <a:chExt cx="244319" cy="280492"/>
          </a:xfrm>
        </p:grpSpPr>
        <p:sp>
          <p:nvSpPr>
            <p:cNvPr id="101" name="Google Shape;101;p18"/>
            <p:cNvSpPr/>
            <p:nvPr/>
          </p:nvSpPr>
          <p:spPr>
            <a:xfrm>
              <a:off x="348736" y="846022"/>
              <a:ext cx="227400" cy="22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chemeClr val="dk1"/>
                </a:highlight>
              </a:endParaRPr>
            </a:p>
          </p:txBody>
        </p:sp>
        <p:sp>
          <p:nvSpPr>
            <p:cNvPr id="102" name="Google Shape;102;p18"/>
            <p:cNvSpPr txBox="1"/>
            <p:nvPr/>
          </p:nvSpPr>
          <p:spPr>
            <a:xfrm>
              <a:off x="331817" y="790230"/>
              <a:ext cx="202800" cy="25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lt1"/>
                  </a:solidFill>
                </a:rPr>
                <a:t>3</a:t>
              </a:r>
              <a:endParaRPr b="1" sz="1000">
                <a:solidFill>
                  <a:schemeClr val="lt1"/>
                </a:solidFill>
              </a:endParaRPr>
            </a:p>
          </p:txBody>
        </p:sp>
      </p:grpSp>
      <p:grpSp>
        <p:nvGrpSpPr>
          <p:cNvPr id="103" name="Google Shape;103;p18"/>
          <p:cNvGrpSpPr/>
          <p:nvPr/>
        </p:nvGrpSpPr>
        <p:grpSpPr>
          <a:xfrm>
            <a:off x="416152" y="3901514"/>
            <a:ext cx="244319" cy="280492"/>
            <a:chOff x="331817" y="790230"/>
            <a:chExt cx="244319" cy="280492"/>
          </a:xfrm>
        </p:grpSpPr>
        <p:sp>
          <p:nvSpPr>
            <p:cNvPr id="104" name="Google Shape;104;p18"/>
            <p:cNvSpPr/>
            <p:nvPr/>
          </p:nvSpPr>
          <p:spPr>
            <a:xfrm>
              <a:off x="348736" y="846022"/>
              <a:ext cx="227400" cy="22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chemeClr val="dk1"/>
                </a:highlight>
              </a:endParaRPr>
            </a:p>
          </p:txBody>
        </p:sp>
        <p:sp>
          <p:nvSpPr>
            <p:cNvPr id="105" name="Google Shape;105;p18"/>
            <p:cNvSpPr txBox="1"/>
            <p:nvPr/>
          </p:nvSpPr>
          <p:spPr>
            <a:xfrm>
              <a:off x="331817" y="790230"/>
              <a:ext cx="202800" cy="25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lt1"/>
                  </a:solidFill>
                </a:rPr>
                <a:t>4</a:t>
              </a:r>
              <a:endParaRPr b="1" sz="1000">
                <a:solidFill>
                  <a:schemeClr val="lt1"/>
                </a:solidFil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9"/>
          <p:cNvSpPr txBox="1"/>
          <p:nvPr>
            <p:ph idx="1" type="body"/>
          </p:nvPr>
        </p:nvSpPr>
        <p:spPr>
          <a:xfrm>
            <a:off x="380550" y="439075"/>
            <a:ext cx="8640600" cy="44025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1018"/>
              <a:buNone/>
            </a:pPr>
            <a:r>
              <a:rPr b="1" lang="en" sz="1400">
                <a:solidFill>
                  <a:schemeClr val="dk1"/>
                </a:solidFill>
              </a:rPr>
              <a:t>Time-Index Feature Creation</a:t>
            </a:r>
            <a:endParaRPr b="1" sz="1400">
              <a:solidFill>
                <a:schemeClr val="dk1"/>
              </a:solidFill>
            </a:endParaRPr>
          </a:p>
          <a:p>
            <a:pPr indent="0" lvl="0" marL="0" rtl="0" algn="l">
              <a:lnSpc>
                <a:spcPct val="95000"/>
              </a:lnSpc>
              <a:spcBef>
                <a:spcPts val="0"/>
              </a:spcBef>
              <a:spcAft>
                <a:spcPts val="0"/>
              </a:spcAft>
              <a:buSzPts val="1018"/>
              <a:buNone/>
            </a:pPr>
            <a:r>
              <a:rPr lang="en" sz="1400">
                <a:solidFill>
                  <a:srgbClr val="666666"/>
                </a:solidFill>
              </a:rPr>
              <a:t>We engineer Days_Since_Start by measuring the number of days since the first trading date in the ticker’s history.This numeric time feature allows a linear model to interpret long-term price evolution even though raw date values aren’t directly meaningful.</a:t>
            </a:r>
            <a:endParaRPr sz="1400">
              <a:solidFill>
                <a:srgbClr val="666666"/>
              </a:solidFill>
            </a:endParaRPr>
          </a:p>
          <a:p>
            <a:pPr indent="0" lvl="0" marL="0" rtl="0" algn="l">
              <a:lnSpc>
                <a:spcPct val="95000"/>
              </a:lnSpc>
              <a:spcBef>
                <a:spcPts val="0"/>
              </a:spcBef>
              <a:spcAft>
                <a:spcPts val="0"/>
              </a:spcAft>
              <a:buSzPts val="1018"/>
              <a:buNone/>
            </a:pPr>
            <a:r>
              <a:t/>
            </a:r>
            <a:endParaRPr sz="1000">
              <a:solidFill>
                <a:srgbClr val="666666"/>
              </a:solidFill>
            </a:endParaRPr>
          </a:p>
          <a:p>
            <a:pPr indent="0" lvl="0" marL="0" rtl="0" algn="l">
              <a:lnSpc>
                <a:spcPct val="95000"/>
              </a:lnSpc>
              <a:spcBef>
                <a:spcPts val="0"/>
              </a:spcBef>
              <a:spcAft>
                <a:spcPts val="0"/>
              </a:spcAft>
              <a:buClr>
                <a:schemeClr val="dk1"/>
              </a:buClr>
              <a:buSzPts val="1018"/>
              <a:buFont typeface="Arial"/>
              <a:buNone/>
            </a:pPr>
            <a:r>
              <a:rPr b="1" lang="en" sz="1400">
                <a:solidFill>
                  <a:schemeClr val="dk1"/>
                </a:solidFill>
              </a:rPr>
              <a:t>T</a:t>
            </a:r>
            <a:r>
              <a:rPr b="1" lang="en" sz="1400">
                <a:solidFill>
                  <a:schemeClr val="dk1"/>
                </a:solidFill>
              </a:rPr>
              <a:t>ime-Based Train/Test Split</a:t>
            </a:r>
            <a:endParaRPr b="1" sz="1400">
              <a:solidFill>
                <a:schemeClr val="dk1"/>
              </a:solidFill>
            </a:endParaRPr>
          </a:p>
          <a:p>
            <a:pPr indent="0" lvl="0" marL="0" rtl="0" algn="l">
              <a:lnSpc>
                <a:spcPct val="95000"/>
              </a:lnSpc>
              <a:spcBef>
                <a:spcPts val="0"/>
              </a:spcBef>
              <a:spcAft>
                <a:spcPts val="0"/>
              </a:spcAft>
              <a:buSzPts val="1018"/>
              <a:buNone/>
            </a:pPr>
            <a:r>
              <a:rPr lang="en" sz="1400">
                <a:solidFill>
                  <a:srgbClr val="666666"/>
                </a:solidFill>
              </a:rPr>
              <a:t>Data is divided strictly by date: </a:t>
            </a:r>
            <a:endParaRPr sz="1400">
              <a:solidFill>
                <a:srgbClr val="666666"/>
              </a:solidFill>
            </a:endParaRPr>
          </a:p>
          <a:p>
            <a:pPr indent="0" lvl="0" marL="0" rtl="0" algn="l">
              <a:lnSpc>
                <a:spcPct val="95000"/>
              </a:lnSpc>
              <a:spcBef>
                <a:spcPts val="0"/>
              </a:spcBef>
              <a:spcAft>
                <a:spcPts val="0"/>
              </a:spcAft>
              <a:buClr>
                <a:schemeClr val="dk1"/>
              </a:buClr>
              <a:buSzPts val="1018"/>
              <a:buFont typeface="Arial"/>
              <a:buNone/>
            </a:pPr>
            <a:r>
              <a:rPr lang="en" sz="1400">
                <a:solidFill>
                  <a:srgbClr val="666666"/>
                </a:solidFill>
              </a:rPr>
              <a:t>Training uses only remote/historical observations and Testing uses future observations</a:t>
            </a:r>
            <a:endParaRPr sz="1400">
              <a:solidFill>
                <a:srgbClr val="666666"/>
              </a:solidFill>
            </a:endParaRPr>
          </a:p>
          <a:p>
            <a:pPr indent="0" lvl="0" marL="0" rtl="0" algn="l">
              <a:lnSpc>
                <a:spcPct val="95000"/>
              </a:lnSpc>
              <a:spcBef>
                <a:spcPts val="0"/>
              </a:spcBef>
              <a:spcAft>
                <a:spcPts val="0"/>
              </a:spcAft>
              <a:buSzPts val="1018"/>
              <a:buNone/>
            </a:pPr>
            <a:r>
              <a:rPr lang="en" sz="1400">
                <a:solidFill>
                  <a:srgbClr val="666666"/>
                </a:solidFill>
              </a:rPr>
              <a:t>This avoids information leakage and ensures performance reflects a true forward-looking environment.</a:t>
            </a:r>
            <a:endParaRPr sz="1400">
              <a:solidFill>
                <a:srgbClr val="666666"/>
              </a:solidFill>
            </a:endParaRPr>
          </a:p>
          <a:p>
            <a:pPr indent="0" lvl="0" marL="0" rtl="0" algn="l">
              <a:lnSpc>
                <a:spcPct val="95000"/>
              </a:lnSpc>
              <a:spcBef>
                <a:spcPts val="0"/>
              </a:spcBef>
              <a:spcAft>
                <a:spcPts val="0"/>
              </a:spcAft>
              <a:buSzPts val="1018"/>
              <a:buNone/>
            </a:pPr>
            <a:r>
              <a:t/>
            </a:r>
            <a:endParaRPr sz="1000">
              <a:solidFill>
                <a:srgbClr val="666666"/>
              </a:solidFill>
            </a:endParaRPr>
          </a:p>
          <a:p>
            <a:pPr indent="0" lvl="0" marL="0" rtl="0" algn="l">
              <a:lnSpc>
                <a:spcPct val="95000"/>
              </a:lnSpc>
              <a:spcBef>
                <a:spcPts val="0"/>
              </a:spcBef>
              <a:spcAft>
                <a:spcPts val="0"/>
              </a:spcAft>
              <a:buClr>
                <a:schemeClr val="dk1"/>
              </a:buClr>
              <a:buSzPts val="1018"/>
              <a:buFont typeface="Arial"/>
              <a:buNone/>
            </a:pPr>
            <a:r>
              <a:rPr b="1" lang="en" sz="1400">
                <a:solidFill>
                  <a:schemeClr val="dk1"/>
                </a:solidFill>
              </a:rPr>
              <a:t>Feature Standardization (Z-Score)</a:t>
            </a:r>
            <a:endParaRPr b="1" sz="1400">
              <a:solidFill>
                <a:schemeClr val="dk1"/>
              </a:solidFill>
            </a:endParaRPr>
          </a:p>
          <a:p>
            <a:pPr indent="0" lvl="0" marL="0" rtl="0" algn="l">
              <a:lnSpc>
                <a:spcPct val="95000"/>
              </a:lnSpc>
              <a:spcBef>
                <a:spcPts val="0"/>
              </a:spcBef>
              <a:spcAft>
                <a:spcPts val="0"/>
              </a:spcAft>
              <a:buSzPts val="1018"/>
              <a:buNone/>
            </a:pPr>
            <a:r>
              <a:rPr lang="en" sz="1400">
                <a:solidFill>
                  <a:srgbClr val="666666"/>
                </a:solidFill>
              </a:rPr>
              <a:t>Feature columns are standardized using mean and standard deviation calculated only from the training period.</a:t>
            </a:r>
            <a:br>
              <a:rPr lang="en" sz="1400">
                <a:solidFill>
                  <a:srgbClr val="666666"/>
                </a:solidFill>
              </a:rPr>
            </a:br>
            <a:r>
              <a:rPr lang="en" sz="1400">
                <a:solidFill>
                  <a:srgbClr val="666666"/>
                </a:solidFill>
              </a:rPr>
              <a:t>Which ensured </a:t>
            </a:r>
            <a:endParaRPr sz="1400">
              <a:solidFill>
                <a:srgbClr val="666666"/>
              </a:solidFill>
            </a:endParaRPr>
          </a:p>
          <a:p>
            <a:pPr indent="-317500" lvl="0" marL="457200" rtl="0" algn="l">
              <a:lnSpc>
                <a:spcPct val="95000"/>
              </a:lnSpc>
              <a:spcBef>
                <a:spcPts val="0"/>
              </a:spcBef>
              <a:spcAft>
                <a:spcPts val="0"/>
              </a:spcAft>
              <a:buClr>
                <a:srgbClr val="666666"/>
              </a:buClr>
              <a:buSzPts val="1400"/>
              <a:buAutoNum type="arabicPeriod"/>
            </a:pPr>
            <a:r>
              <a:rPr lang="en" sz="1400">
                <a:solidFill>
                  <a:srgbClr val="666666"/>
                </a:solidFill>
              </a:rPr>
              <a:t>features share a comparable scale</a:t>
            </a:r>
            <a:endParaRPr sz="1400">
              <a:solidFill>
                <a:srgbClr val="666666"/>
              </a:solidFill>
            </a:endParaRPr>
          </a:p>
          <a:p>
            <a:pPr indent="-317500" lvl="0" marL="457200" rtl="0" algn="l">
              <a:lnSpc>
                <a:spcPct val="95000"/>
              </a:lnSpc>
              <a:spcBef>
                <a:spcPts val="0"/>
              </a:spcBef>
              <a:spcAft>
                <a:spcPts val="0"/>
              </a:spcAft>
              <a:buClr>
                <a:srgbClr val="666666"/>
              </a:buClr>
              <a:buSzPts val="1400"/>
              <a:buAutoNum type="arabicPeriod"/>
            </a:pPr>
            <a:r>
              <a:rPr lang="en" sz="1400">
                <a:solidFill>
                  <a:srgbClr val="666666"/>
                </a:solidFill>
              </a:rPr>
              <a:t>numerical optimization (e.g., CG) remains stable</a:t>
            </a:r>
            <a:endParaRPr sz="1400">
              <a:solidFill>
                <a:srgbClr val="666666"/>
              </a:solidFill>
            </a:endParaRPr>
          </a:p>
          <a:p>
            <a:pPr indent="-317500" lvl="0" marL="457200" rtl="0" algn="l">
              <a:lnSpc>
                <a:spcPct val="95000"/>
              </a:lnSpc>
              <a:spcBef>
                <a:spcPts val="0"/>
              </a:spcBef>
              <a:spcAft>
                <a:spcPts val="0"/>
              </a:spcAft>
              <a:buClr>
                <a:srgbClr val="666666"/>
              </a:buClr>
              <a:buSzPts val="1400"/>
              <a:buAutoNum type="arabicPeriod"/>
            </a:pPr>
            <a:r>
              <a:rPr lang="en" sz="1400">
                <a:solidFill>
                  <a:srgbClr val="666666"/>
                </a:solidFill>
              </a:rPr>
              <a:t> test data is transformed consistently without leaking future information</a:t>
            </a:r>
            <a:endParaRPr sz="1400">
              <a:solidFill>
                <a:srgbClr val="666666"/>
              </a:solidFill>
            </a:endParaRPr>
          </a:p>
          <a:p>
            <a:pPr indent="0" lvl="0" marL="0" rtl="0" algn="l">
              <a:lnSpc>
                <a:spcPct val="95000"/>
              </a:lnSpc>
              <a:spcBef>
                <a:spcPts val="0"/>
              </a:spcBef>
              <a:spcAft>
                <a:spcPts val="0"/>
              </a:spcAft>
              <a:buSzPts val="1018"/>
              <a:buNone/>
            </a:pPr>
            <a:r>
              <a:rPr lang="en" sz="1400">
                <a:solidFill>
                  <a:srgbClr val="666666"/>
                </a:solidFill>
              </a:rPr>
              <a:t>A safety guard handles zero-variance features to avoid divide-by-zero errors.</a:t>
            </a:r>
            <a:endParaRPr sz="1400">
              <a:solidFill>
                <a:srgbClr val="666666"/>
              </a:solidFill>
            </a:endParaRPr>
          </a:p>
          <a:p>
            <a:pPr indent="0" lvl="0" marL="0" rtl="0" algn="l">
              <a:lnSpc>
                <a:spcPct val="95000"/>
              </a:lnSpc>
              <a:spcBef>
                <a:spcPts val="0"/>
              </a:spcBef>
              <a:spcAft>
                <a:spcPts val="0"/>
              </a:spcAft>
              <a:buSzPts val="1018"/>
              <a:buNone/>
            </a:pPr>
            <a:r>
              <a:t/>
            </a:r>
            <a:endParaRPr sz="1000">
              <a:solidFill>
                <a:srgbClr val="666666"/>
              </a:solidFill>
            </a:endParaRPr>
          </a:p>
          <a:p>
            <a:pPr indent="0" lvl="0" marL="0" rtl="0" algn="l">
              <a:lnSpc>
                <a:spcPct val="95000"/>
              </a:lnSpc>
              <a:spcBef>
                <a:spcPts val="0"/>
              </a:spcBef>
              <a:spcAft>
                <a:spcPts val="0"/>
              </a:spcAft>
              <a:buClr>
                <a:schemeClr val="dk1"/>
              </a:buClr>
              <a:buSzPts val="1018"/>
              <a:buFont typeface="Arial"/>
              <a:buNone/>
            </a:pPr>
            <a:r>
              <a:rPr b="1" lang="en" sz="1400">
                <a:solidFill>
                  <a:schemeClr val="dk1"/>
                </a:solidFill>
              </a:rPr>
              <a:t>Bias Term Augmentation</a:t>
            </a:r>
            <a:endParaRPr b="1" sz="1400">
              <a:solidFill>
                <a:schemeClr val="dk1"/>
              </a:solidFill>
            </a:endParaRPr>
          </a:p>
          <a:p>
            <a:pPr indent="0" lvl="0" marL="0" rtl="0" algn="l">
              <a:lnSpc>
                <a:spcPct val="95000"/>
              </a:lnSpc>
              <a:spcBef>
                <a:spcPts val="0"/>
              </a:spcBef>
              <a:spcAft>
                <a:spcPts val="0"/>
              </a:spcAft>
              <a:buSzPts val="1018"/>
              <a:buNone/>
            </a:pPr>
            <a:r>
              <a:rPr lang="en" sz="1400">
                <a:solidFill>
                  <a:srgbClr val="666666"/>
                </a:solidFill>
              </a:rPr>
              <a:t>A column of ones is added to the feature matrix to support an intercept term inside the linear model.</a:t>
            </a:r>
            <a:br>
              <a:rPr lang="en" sz="1400">
                <a:solidFill>
                  <a:srgbClr val="666666"/>
                </a:solidFill>
              </a:rPr>
            </a:br>
            <a:r>
              <a:rPr lang="en" sz="1400">
                <a:solidFill>
                  <a:srgbClr val="666666"/>
                </a:solidFill>
              </a:rPr>
              <a:t>This gives the model the ability to learn baseline price levels rather than forcing predictions to pass through zero.</a:t>
            </a:r>
            <a:endParaRPr b="1" sz="1400">
              <a:solidFill>
                <a:srgbClr val="666666"/>
              </a:solidFill>
            </a:endParaRPr>
          </a:p>
        </p:txBody>
      </p:sp>
      <p:sp>
        <p:nvSpPr>
          <p:cNvPr id="111" name="Google Shape;111;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12" name="Google Shape;112;p19"/>
          <p:cNvSpPr txBox="1"/>
          <p:nvPr/>
        </p:nvSpPr>
        <p:spPr>
          <a:xfrm>
            <a:off x="4572000" y="0"/>
            <a:ext cx="4625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99999"/>
                </a:solidFill>
              </a:rPr>
              <a:t>(d</a:t>
            </a:r>
            <a:r>
              <a:rPr b="1" lang="en">
                <a:solidFill>
                  <a:srgbClr val="999999"/>
                </a:solidFill>
              </a:rPr>
              <a:t>ata cleaning &amp; preprocessing continued……</a:t>
            </a:r>
            <a:r>
              <a:rPr b="1" lang="en">
                <a:solidFill>
                  <a:srgbClr val="999999"/>
                </a:solidFill>
              </a:rPr>
              <a:t>)</a:t>
            </a:r>
            <a:endParaRPr b="1">
              <a:solidFill>
                <a:srgbClr val="999999"/>
              </a:solidFill>
            </a:endParaRPr>
          </a:p>
        </p:txBody>
      </p:sp>
      <p:grpSp>
        <p:nvGrpSpPr>
          <p:cNvPr id="113" name="Google Shape;113;p19"/>
          <p:cNvGrpSpPr/>
          <p:nvPr/>
        </p:nvGrpSpPr>
        <p:grpSpPr>
          <a:xfrm>
            <a:off x="136243" y="498927"/>
            <a:ext cx="244295" cy="280492"/>
            <a:chOff x="331817" y="790230"/>
            <a:chExt cx="244319" cy="280492"/>
          </a:xfrm>
        </p:grpSpPr>
        <p:sp>
          <p:nvSpPr>
            <p:cNvPr id="114" name="Google Shape;114;p19"/>
            <p:cNvSpPr/>
            <p:nvPr/>
          </p:nvSpPr>
          <p:spPr>
            <a:xfrm>
              <a:off x="348736" y="846022"/>
              <a:ext cx="227400" cy="22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chemeClr val="dk1"/>
                </a:highlight>
              </a:endParaRPr>
            </a:p>
          </p:txBody>
        </p:sp>
        <p:sp>
          <p:nvSpPr>
            <p:cNvPr id="115" name="Google Shape;115;p19"/>
            <p:cNvSpPr txBox="1"/>
            <p:nvPr/>
          </p:nvSpPr>
          <p:spPr>
            <a:xfrm>
              <a:off x="331817" y="790230"/>
              <a:ext cx="202800" cy="25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lt1"/>
                  </a:solidFill>
                </a:rPr>
                <a:t>5</a:t>
              </a:r>
              <a:endParaRPr b="1" sz="1000">
                <a:solidFill>
                  <a:schemeClr val="lt1"/>
                </a:solidFill>
              </a:endParaRPr>
            </a:p>
          </p:txBody>
        </p:sp>
      </p:grpSp>
      <p:grpSp>
        <p:nvGrpSpPr>
          <p:cNvPr id="116" name="Google Shape;116;p19"/>
          <p:cNvGrpSpPr/>
          <p:nvPr/>
        </p:nvGrpSpPr>
        <p:grpSpPr>
          <a:xfrm>
            <a:off x="136242" y="1452154"/>
            <a:ext cx="244319" cy="280492"/>
            <a:chOff x="331817" y="790230"/>
            <a:chExt cx="244319" cy="280492"/>
          </a:xfrm>
        </p:grpSpPr>
        <p:sp>
          <p:nvSpPr>
            <p:cNvPr id="117" name="Google Shape;117;p19"/>
            <p:cNvSpPr/>
            <p:nvPr/>
          </p:nvSpPr>
          <p:spPr>
            <a:xfrm>
              <a:off x="348736" y="846022"/>
              <a:ext cx="227400" cy="22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chemeClr val="dk1"/>
                </a:highlight>
              </a:endParaRPr>
            </a:p>
          </p:txBody>
        </p:sp>
        <p:sp>
          <p:nvSpPr>
            <p:cNvPr id="118" name="Google Shape;118;p19"/>
            <p:cNvSpPr txBox="1"/>
            <p:nvPr/>
          </p:nvSpPr>
          <p:spPr>
            <a:xfrm>
              <a:off x="331817" y="790230"/>
              <a:ext cx="202800" cy="25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lt1"/>
                  </a:solidFill>
                </a:rPr>
                <a:t>6</a:t>
              </a:r>
              <a:endParaRPr b="1" sz="1000">
                <a:solidFill>
                  <a:schemeClr val="lt1"/>
                </a:solidFill>
              </a:endParaRPr>
            </a:p>
          </p:txBody>
        </p:sp>
      </p:grpSp>
      <p:grpSp>
        <p:nvGrpSpPr>
          <p:cNvPr id="119" name="Google Shape;119;p19"/>
          <p:cNvGrpSpPr/>
          <p:nvPr/>
        </p:nvGrpSpPr>
        <p:grpSpPr>
          <a:xfrm>
            <a:off x="136242" y="2405378"/>
            <a:ext cx="244319" cy="280492"/>
            <a:chOff x="331817" y="790230"/>
            <a:chExt cx="244319" cy="280492"/>
          </a:xfrm>
        </p:grpSpPr>
        <p:sp>
          <p:nvSpPr>
            <p:cNvPr id="120" name="Google Shape;120;p19"/>
            <p:cNvSpPr/>
            <p:nvPr/>
          </p:nvSpPr>
          <p:spPr>
            <a:xfrm>
              <a:off x="348736" y="846022"/>
              <a:ext cx="227400" cy="22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chemeClr val="dk1"/>
                </a:highlight>
              </a:endParaRPr>
            </a:p>
          </p:txBody>
        </p:sp>
        <p:sp>
          <p:nvSpPr>
            <p:cNvPr id="121" name="Google Shape;121;p19"/>
            <p:cNvSpPr txBox="1"/>
            <p:nvPr/>
          </p:nvSpPr>
          <p:spPr>
            <a:xfrm>
              <a:off x="331817" y="790230"/>
              <a:ext cx="202800" cy="25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lt1"/>
                  </a:solidFill>
                </a:rPr>
                <a:t>7</a:t>
              </a:r>
              <a:endParaRPr b="1" sz="1000">
                <a:solidFill>
                  <a:schemeClr val="lt1"/>
                </a:solidFill>
              </a:endParaRPr>
            </a:p>
          </p:txBody>
        </p:sp>
      </p:grpSp>
      <p:grpSp>
        <p:nvGrpSpPr>
          <p:cNvPr id="122" name="Google Shape;122;p19"/>
          <p:cNvGrpSpPr/>
          <p:nvPr/>
        </p:nvGrpSpPr>
        <p:grpSpPr>
          <a:xfrm>
            <a:off x="139184" y="4170276"/>
            <a:ext cx="238452" cy="280493"/>
            <a:chOff x="337684" y="790229"/>
            <a:chExt cx="238452" cy="280493"/>
          </a:xfrm>
        </p:grpSpPr>
        <p:sp>
          <p:nvSpPr>
            <p:cNvPr id="123" name="Google Shape;123;p19"/>
            <p:cNvSpPr/>
            <p:nvPr/>
          </p:nvSpPr>
          <p:spPr>
            <a:xfrm>
              <a:off x="348736" y="846022"/>
              <a:ext cx="227400" cy="22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chemeClr val="dk1"/>
                </a:highlight>
              </a:endParaRPr>
            </a:p>
          </p:txBody>
        </p:sp>
        <p:sp>
          <p:nvSpPr>
            <p:cNvPr id="124" name="Google Shape;124;p19"/>
            <p:cNvSpPr txBox="1"/>
            <p:nvPr/>
          </p:nvSpPr>
          <p:spPr>
            <a:xfrm>
              <a:off x="337684" y="790229"/>
              <a:ext cx="202800" cy="25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lt1"/>
                  </a:solidFill>
                </a:rPr>
                <a:t>8</a:t>
              </a:r>
              <a:endParaRPr b="1" sz="1000">
                <a:solidFill>
                  <a:schemeClr val="lt1"/>
                </a:solidFil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0"/>
          <p:cNvSpPr txBox="1"/>
          <p:nvPr>
            <p:ph type="title"/>
          </p:nvPr>
        </p:nvSpPr>
        <p:spPr>
          <a:xfrm>
            <a:off x="311700" y="165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u="sng"/>
              <a:t>Methodology:</a:t>
            </a:r>
            <a:endParaRPr b="1" u="sng"/>
          </a:p>
          <a:p>
            <a:pPr indent="0" lvl="0" marL="0" rtl="0" algn="l">
              <a:spcBef>
                <a:spcPts val="0"/>
              </a:spcBef>
              <a:spcAft>
                <a:spcPts val="0"/>
              </a:spcAft>
              <a:buNone/>
            </a:pPr>
            <a:r>
              <a:t/>
            </a:r>
            <a:endParaRPr/>
          </a:p>
        </p:txBody>
      </p:sp>
      <p:sp>
        <p:nvSpPr>
          <p:cNvPr id="130" name="Google Shape;130;p20"/>
          <p:cNvSpPr txBox="1"/>
          <p:nvPr>
            <p:ph idx="1" type="body"/>
          </p:nvPr>
        </p:nvSpPr>
        <p:spPr>
          <a:xfrm>
            <a:off x="311700" y="738075"/>
            <a:ext cx="8520600" cy="429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700"/>
              <a:t>In this project </a:t>
            </a:r>
            <a:r>
              <a:rPr lang="en" sz="1700">
                <a:solidFill>
                  <a:srgbClr val="666666"/>
                </a:solidFill>
              </a:rPr>
              <a:t>we aim to determine the optimal weight vector w for a linear regression model that predicts normalized stock closing prices (e.g., MSFT, AAPL, NFLX).</a:t>
            </a:r>
            <a:endParaRPr sz="1700">
              <a:solidFill>
                <a:srgbClr val="666666"/>
              </a:solidFill>
            </a:endParaRPr>
          </a:p>
          <a:p>
            <a:pPr indent="0" lvl="0" marL="0" rtl="0" algn="l">
              <a:spcBef>
                <a:spcPts val="1200"/>
              </a:spcBef>
              <a:spcAft>
                <a:spcPts val="0"/>
              </a:spcAft>
              <a:buClr>
                <a:schemeClr val="dk1"/>
              </a:buClr>
              <a:buSzPts val="1100"/>
              <a:buFont typeface="Arial"/>
              <a:buNone/>
            </a:pPr>
            <a:r>
              <a:rPr lang="en" sz="1700">
                <a:solidFill>
                  <a:srgbClr val="666666"/>
                </a:solidFill>
              </a:rPr>
              <a:t>Objective Function: Mean Squared Error (MSE)</a:t>
            </a:r>
            <a:endParaRPr sz="1700">
              <a:solidFill>
                <a:srgbClr val="666666"/>
              </a:solidFill>
            </a:endParaRPr>
          </a:p>
          <a:p>
            <a:pPr indent="0" lvl="0" marL="0" rtl="0" algn="l">
              <a:spcBef>
                <a:spcPts val="0"/>
              </a:spcBef>
              <a:spcAft>
                <a:spcPts val="0"/>
              </a:spcAft>
              <a:buNone/>
            </a:pPr>
            <a:r>
              <a:rPr lang="en" sz="1700">
                <a:solidFill>
                  <a:srgbClr val="666666"/>
                </a:solidFill>
              </a:rPr>
              <a:t>The optimization objective is the Mean Squared Error (MSE), which is quadratic and convex, ensuring stable convergence during optimization.</a:t>
            </a:r>
            <a:endParaRPr sz="1700">
              <a:solidFill>
                <a:srgbClr val="666666"/>
              </a:solidFill>
            </a:endParaRPr>
          </a:p>
          <a:p>
            <a:pPr indent="0" lvl="0" marL="0" rtl="0" algn="l">
              <a:spcBef>
                <a:spcPts val="0"/>
              </a:spcBef>
              <a:spcAft>
                <a:spcPts val="0"/>
              </a:spcAft>
              <a:buClr>
                <a:schemeClr val="dk1"/>
              </a:buClr>
              <a:buSzPts val="1100"/>
              <a:buFont typeface="Arial"/>
              <a:buNone/>
            </a:pPr>
            <a:r>
              <a:t/>
            </a:r>
            <a:endParaRPr sz="1700">
              <a:solidFill>
                <a:srgbClr val="666666"/>
              </a:solidFill>
            </a:endParaRPr>
          </a:p>
          <a:p>
            <a:pPr indent="0" lvl="0" marL="0" rtl="0" algn="l">
              <a:spcBef>
                <a:spcPts val="0"/>
              </a:spcBef>
              <a:spcAft>
                <a:spcPts val="0"/>
              </a:spcAft>
              <a:buNone/>
            </a:pPr>
            <a:r>
              <a:t/>
            </a:r>
            <a:endParaRPr sz="1700">
              <a:solidFill>
                <a:srgbClr val="666666"/>
              </a:solidFill>
            </a:endParaRPr>
          </a:p>
          <a:p>
            <a:pPr indent="0" lvl="0" marL="0" rtl="0" algn="l">
              <a:spcBef>
                <a:spcPts val="1200"/>
              </a:spcBef>
              <a:spcAft>
                <a:spcPts val="0"/>
              </a:spcAft>
              <a:buClr>
                <a:schemeClr val="dk1"/>
              </a:buClr>
              <a:buSzPts val="1100"/>
              <a:buFont typeface="Arial"/>
              <a:buNone/>
            </a:pPr>
            <a:r>
              <a:rPr lang="en" sz="1700">
                <a:solidFill>
                  <a:srgbClr val="666666"/>
                </a:solidFill>
              </a:rPr>
              <a:t>Analytical Gradient Function</a:t>
            </a:r>
            <a:endParaRPr sz="1700">
              <a:solidFill>
                <a:srgbClr val="666666"/>
              </a:solidFill>
            </a:endParaRPr>
          </a:p>
          <a:p>
            <a:pPr indent="0" lvl="0" marL="0" rtl="0" algn="l">
              <a:spcBef>
                <a:spcPts val="0"/>
              </a:spcBef>
              <a:spcAft>
                <a:spcPts val="0"/>
              </a:spcAft>
              <a:buClr>
                <a:schemeClr val="dk1"/>
              </a:buClr>
              <a:buSzPts val="1100"/>
              <a:buFont typeface="Arial"/>
              <a:buNone/>
            </a:pPr>
            <a:r>
              <a:rPr lang="en" sz="1700">
                <a:solidFill>
                  <a:srgbClr val="666666"/>
                </a:solidFill>
              </a:rPr>
              <a:t>The gradient defines the direction of steepest ascent and plays a crucial role in initializing the Conjugate Gradient (CG) method and updating residuals</a:t>
            </a:r>
            <a:r>
              <a:rPr lang="en" sz="1700">
                <a:solidFill>
                  <a:schemeClr val="dk1"/>
                </a:solidFill>
              </a:rPr>
              <a:t>.</a:t>
            </a:r>
            <a:endParaRPr sz="1700">
              <a:solidFill>
                <a:srgbClr val="666666"/>
              </a:solidFill>
            </a:endParaRPr>
          </a:p>
        </p:txBody>
      </p:sp>
      <p:pic>
        <p:nvPicPr>
          <p:cNvPr id="131" name="Google Shape;131;p20"/>
          <p:cNvPicPr preferRelativeResize="0"/>
          <p:nvPr/>
        </p:nvPicPr>
        <p:blipFill>
          <a:blip r:embed="rId3">
            <a:alphaModFix/>
          </a:blip>
          <a:stretch>
            <a:fillRect/>
          </a:stretch>
        </p:blipFill>
        <p:spPr>
          <a:xfrm>
            <a:off x="3606775" y="2571750"/>
            <a:ext cx="1930450" cy="572700"/>
          </a:xfrm>
          <a:prstGeom prst="rect">
            <a:avLst/>
          </a:prstGeom>
          <a:noFill/>
          <a:ln>
            <a:noFill/>
          </a:ln>
        </p:spPr>
      </p:pic>
      <p:pic>
        <p:nvPicPr>
          <p:cNvPr id="132" name="Google Shape;132;p20"/>
          <p:cNvPicPr preferRelativeResize="0"/>
          <p:nvPr/>
        </p:nvPicPr>
        <p:blipFill>
          <a:blip r:embed="rId4">
            <a:alphaModFix/>
          </a:blip>
          <a:stretch>
            <a:fillRect/>
          </a:stretch>
        </p:blipFill>
        <p:spPr>
          <a:xfrm>
            <a:off x="3348575" y="4195850"/>
            <a:ext cx="2446850" cy="572700"/>
          </a:xfrm>
          <a:prstGeom prst="rect">
            <a:avLst/>
          </a:prstGeom>
          <a:noFill/>
          <a:ln>
            <a:noFill/>
          </a:ln>
        </p:spPr>
      </p:pic>
      <p:sp>
        <p:nvSpPr>
          <p:cNvPr id="133" name="Google Shape;133;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1"/>
          <p:cNvSpPr txBox="1"/>
          <p:nvPr>
            <p:ph type="title"/>
          </p:nvPr>
        </p:nvSpPr>
        <p:spPr>
          <a:xfrm>
            <a:off x="611700" y="214875"/>
            <a:ext cx="8057700" cy="473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52380"/>
              <a:buFont typeface="Arial"/>
              <a:buNone/>
            </a:pPr>
            <a:r>
              <a:rPr b="1" lang="en" sz="2100"/>
              <a:t>Custom Conjugate Gradient Initialization:</a:t>
            </a:r>
            <a:r>
              <a:rPr lang="en" sz="2100"/>
              <a:t>        </a:t>
            </a:r>
            <a:r>
              <a:rPr lang="en" sz="1750">
                <a:solidFill>
                  <a:srgbClr val="999999"/>
                </a:solidFill>
              </a:rPr>
              <a:t>(methodology continued……)</a:t>
            </a:r>
            <a:endParaRPr sz="1750">
              <a:solidFill>
                <a:srgbClr val="999999"/>
              </a:solidFill>
            </a:endParaRPr>
          </a:p>
        </p:txBody>
      </p:sp>
      <p:sp>
        <p:nvSpPr>
          <p:cNvPr id="139" name="Google Shape;139;p21"/>
          <p:cNvSpPr txBox="1"/>
          <p:nvPr>
            <p:ph idx="1" type="body"/>
          </p:nvPr>
        </p:nvSpPr>
        <p:spPr>
          <a:xfrm>
            <a:off x="311700" y="738075"/>
            <a:ext cx="8520600" cy="4217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solidFill>
                  <a:srgbClr val="666666"/>
                </a:solidFill>
              </a:rPr>
              <a:t>The custom CG implementation (_conjugate_gradient_custom) iteratively updates the weights with tolerance tol = 10^{-6} and max_iter = 1000.</a:t>
            </a:r>
            <a:endParaRPr>
              <a:solidFill>
                <a:srgbClr val="666666"/>
              </a:solidFill>
            </a:endParaRPr>
          </a:p>
          <a:p>
            <a:pPr indent="0" lvl="0" marL="0" rtl="0" algn="l">
              <a:spcBef>
                <a:spcPts val="0"/>
              </a:spcBef>
              <a:spcAft>
                <a:spcPts val="0"/>
              </a:spcAft>
              <a:buClr>
                <a:schemeClr val="dk1"/>
              </a:buClr>
              <a:buSzPts val="1100"/>
              <a:buFont typeface="Arial"/>
              <a:buNone/>
            </a:pPr>
            <a:r>
              <a:rPr lang="en">
                <a:solidFill>
                  <a:srgbClr val="666666"/>
                </a:solidFill>
              </a:rPr>
              <a:t>Step 0: Initialization (i = 0)</a:t>
            </a:r>
            <a:endParaRPr>
              <a:solidFill>
                <a:srgbClr val="666666"/>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a:solidFill>
                  <a:srgbClr val="666666"/>
                </a:solidFill>
              </a:rPr>
              <a:t>1. Initial Weights:</a:t>
            </a:r>
            <a:endParaRPr sz="1400">
              <a:solidFill>
                <a:srgbClr val="666666"/>
              </a:solidFill>
            </a:endParaRPr>
          </a:p>
          <a:p>
            <a:pPr indent="0" lvl="0" marL="0" rtl="0" algn="l">
              <a:spcBef>
                <a:spcPts val="0"/>
              </a:spcBef>
              <a:spcAft>
                <a:spcPts val="0"/>
              </a:spcAft>
              <a:buNone/>
            </a:pPr>
            <a:r>
              <a:t/>
            </a:r>
            <a:endParaRPr sz="1400">
              <a:solidFill>
                <a:srgbClr val="666666"/>
              </a:solidFill>
            </a:endParaRPr>
          </a:p>
          <a:p>
            <a:pPr indent="0" lvl="0" marL="0" rtl="0" algn="l">
              <a:spcBef>
                <a:spcPts val="0"/>
              </a:spcBef>
              <a:spcAft>
                <a:spcPts val="0"/>
              </a:spcAft>
              <a:buNone/>
            </a:pPr>
            <a:r>
              <a:rPr lang="en">
                <a:solidFill>
                  <a:srgbClr val="666666"/>
                </a:solidFill>
              </a:rPr>
              <a:t>2. Initial Gradient:  </a:t>
            </a:r>
            <a:endParaRPr sz="1400">
              <a:solidFill>
                <a:srgbClr val="666666"/>
              </a:solidFill>
            </a:endParaRPr>
          </a:p>
          <a:p>
            <a:pPr indent="0" lvl="0" marL="0" rtl="0" algn="l">
              <a:spcBef>
                <a:spcPts val="0"/>
              </a:spcBef>
              <a:spcAft>
                <a:spcPts val="0"/>
              </a:spcAft>
              <a:buClr>
                <a:schemeClr val="dk1"/>
              </a:buClr>
              <a:buSzPts val="1100"/>
              <a:buFont typeface="Arial"/>
              <a:buNone/>
            </a:pPr>
            <a:r>
              <a:t/>
            </a:r>
            <a:endParaRPr sz="1400">
              <a:solidFill>
                <a:srgbClr val="666666"/>
              </a:solidFill>
            </a:endParaRPr>
          </a:p>
          <a:p>
            <a:pPr indent="0" lvl="0" marL="0" rtl="0" algn="l">
              <a:spcBef>
                <a:spcPts val="0"/>
              </a:spcBef>
              <a:spcAft>
                <a:spcPts val="0"/>
              </a:spcAft>
              <a:buNone/>
            </a:pPr>
            <a:r>
              <a:rPr lang="en">
                <a:solidFill>
                  <a:srgbClr val="666666"/>
                </a:solidFill>
              </a:rPr>
              <a:t>3. Initial Residual (Negative Gradient): </a:t>
            </a:r>
            <a:endParaRPr sz="1400">
              <a:solidFill>
                <a:srgbClr val="666666"/>
              </a:solidFill>
            </a:endParaRPr>
          </a:p>
          <a:p>
            <a:pPr indent="0" lvl="0" marL="0" rtl="0" algn="l">
              <a:spcBef>
                <a:spcPts val="0"/>
              </a:spcBef>
              <a:spcAft>
                <a:spcPts val="0"/>
              </a:spcAft>
              <a:buNone/>
            </a:pPr>
            <a:r>
              <a:t/>
            </a:r>
            <a:endParaRPr sz="1400">
              <a:solidFill>
                <a:srgbClr val="666666"/>
              </a:solidFill>
            </a:endParaRPr>
          </a:p>
          <a:p>
            <a:pPr indent="0" lvl="0" marL="0" rtl="0" algn="l">
              <a:spcBef>
                <a:spcPts val="0"/>
              </a:spcBef>
              <a:spcAft>
                <a:spcPts val="0"/>
              </a:spcAft>
              <a:buNone/>
            </a:pPr>
            <a:r>
              <a:rPr lang="en">
                <a:solidFill>
                  <a:srgbClr val="666666"/>
                </a:solidFill>
              </a:rPr>
              <a:t>4. Initial Search Direction: </a:t>
            </a:r>
            <a:endParaRPr sz="1400">
              <a:solidFill>
                <a:srgbClr val="666666"/>
              </a:solidFill>
            </a:endParaRPr>
          </a:p>
          <a:p>
            <a:pPr indent="0" lvl="0" marL="0" rtl="0" algn="l">
              <a:spcBef>
                <a:spcPts val="0"/>
              </a:spcBef>
              <a:spcAft>
                <a:spcPts val="0"/>
              </a:spcAft>
              <a:buNone/>
            </a:pPr>
            <a:r>
              <a:t/>
            </a:r>
            <a:endParaRPr sz="1400">
              <a:solidFill>
                <a:srgbClr val="666666"/>
              </a:solidFill>
            </a:endParaRPr>
          </a:p>
          <a:p>
            <a:pPr indent="0" lvl="0" marL="0" rtl="0" algn="l">
              <a:spcBef>
                <a:spcPts val="0"/>
              </a:spcBef>
              <a:spcAft>
                <a:spcPts val="0"/>
              </a:spcAft>
              <a:buClr>
                <a:schemeClr val="dk1"/>
              </a:buClr>
              <a:buSzPts val="1100"/>
              <a:buFont typeface="Arial"/>
              <a:buNone/>
            </a:pPr>
            <a:r>
              <a:rPr lang="en">
                <a:solidFill>
                  <a:srgbClr val="666666"/>
                </a:solidFill>
              </a:rPr>
              <a:t>5. Pre-calculation:</a:t>
            </a:r>
            <a:r>
              <a:rPr lang="en">
                <a:solidFill>
                  <a:schemeClr val="dk1"/>
                </a:solidFill>
              </a:rPr>
              <a:t> </a:t>
            </a:r>
            <a:r>
              <a:rPr lang="en" sz="1100">
                <a:solidFill>
                  <a:schemeClr val="dk1"/>
                </a:solidFill>
              </a:rPr>
              <a:t>  </a:t>
            </a:r>
            <a:endParaRPr sz="1100">
              <a:solidFill>
                <a:schemeClr val="dk1"/>
              </a:solidFill>
            </a:endParaRPr>
          </a:p>
        </p:txBody>
      </p:sp>
      <p:pic>
        <p:nvPicPr>
          <p:cNvPr id="140" name="Google Shape;140;p21"/>
          <p:cNvPicPr preferRelativeResize="0"/>
          <p:nvPr/>
        </p:nvPicPr>
        <p:blipFill>
          <a:blip r:embed="rId3">
            <a:alphaModFix/>
          </a:blip>
          <a:stretch>
            <a:fillRect/>
          </a:stretch>
        </p:blipFill>
        <p:spPr>
          <a:xfrm>
            <a:off x="2503325" y="1968050"/>
            <a:ext cx="1975550" cy="275400"/>
          </a:xfrm>
          <a:prstGeom prst="rect">
            <a:avLst/>
          </a:prstGeom>
          <a:noFill/>
          <a:ln>
            <a:noFill/>
          </a:ln>
        </p:spPr>
      </p:pic>
      <p:pic>
        <p:nvPicPr>
          <p:cNvPr id="141" name="Google Shape;141;p21"/>
          <p:cNvPicPr preferRelativeResize="0"/>
          <p:nvPr/>
        </p:nvPicPr>
        <p:blipFill>
          <a:blip r:embed="rId4">
            <a:alphaModFix/>
          </a:blip>
          <a:stretch>
            <a:fillRect/>
          </a:stretch>
        </p:blipFill>
        <p:spPr>
          <a:xfrm>
            <a:off x="2754550" y="2495550"/>
            <a:ext cx="1088875" cy="275400"/>
          </a:xfrm>
          <a:prstGeom prst="rect">
            <a:avLst/>
          </a:prstGeom>
          <a:noFill/>
          <a:ln>
            <a:noFill/>
          </a:ln>
        </p:spPr>
      </p:pic>
      <p:pic>
        <p:nvPicPr>
          <p:cNvPr id="142" name="Google Shape;142;p21"/>
          <p:cNvPicPr preferRelativeResize="0"/>
          <p:nvPr/>
        </p:nvPicPr>
        <p:blipFill>
          <a:blip r:embed="rId5">
            <a:alphaModFix/>
          </a:blip>
          <a:stretch>
            <a:fillRect/>
          </a:stretch>
        </p:blipFill>
        <p:spPr>
          <a:xfrm>
            <a:off x="4572000" y="3150923"/>
            <a:ext cx="952025" cy="171677"/>
          </a:xfrm>
          <a:prstGeom prst="rect">
            <a:avLst/>
          </a:prstGeom>
          <a:noFill/>
          <a:ln>
            <a:noFill/>
          </a:ln>
        </p:spPr>
      </p:pic>
      <p:pic>
        <p:nvPicPr>
          <p:cNvPr id="143" name="Google Shape;143;p21"/>
          <p:cNvPicPr preferRelativeResize="0"/>
          <p:nvPr/>
        </p:nvPicPr>
        <p:blipFill>
          <a:blip r:embed="rId6">
            <a:alphaModFix/>
          </a:blip>
          <a:stretch>
            <a:fillRect/>
          </a:stretch>
        </p:blipFill>
        <p:spPr>
          <a:xfrm>
            <a:off x="3357650" y="3680730"/>
            <a:ext cx="719375" cy="183370"/>
          </a:xfrm>
          <a:prstGeom prst="rect">
            <a:avLst/>
          </a:prstGeom>
          <a:noFill/>
          <a:ln>
            <a:noFill/>
          </a:ln>
        </p:spPr>
      </p:pic>
      <p:pic>
        <p:nvPicPr>
          <p:cNvPr id="144" name="Google Shape;144;p21"/>
          <p:cNvPicPr preferRelativeResize="0"/>
          <p:nvPr/>
        </p:nvPicPr>
        <p:blipFill>
          <a:blip r:embed="rId7">
            <a:alphaModFix/>
          </a:blip>
          <a:stretch>
            <a:fillRect/>
          </a:stretch>
        </p:blipFill>
        <p:spPr>
          <a:xfrm>
            <a:off x="2557550" y="4230550"/>
            <a:ext cx="1020950" cy="275400"/>
          </a:xfrm>
          <a:prstGeom prst="rect">
            <a:avLst/>
          </a:prstGeom>
          <a:noFill/>
          <a:ln>
            <a:noFill/>
          </a:ln>
        </p:spPr>
      </p:pic>
      <p:sp>
        <p:nvSpPr>
          <p:cNvPr id="145" name="Google Shape;14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6" name="Google Shape;146;p21"/>
          <p:cNvSpPr/>
          <p:nvPr/>
        </p:nvSpPr>
        <p:spPr>
          <a:xfrm>
            <a:off x="257400" y="325575"/>
            <a:ext cx="354300" cy="252300"/>
          </a:xfrm>
          <a:prstGeom prst="homePlate">
            <a:avLst>
              <a:gd fmla="val 35452"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2"/>
          <p:cNvSpPr txBox="1"/>
          <p:nvPr>
            <p:ph type="title"/>
          </p:nvPr>
        </p:nvSpPr>
        <p:spPr>
          <a:xfrm>
            <a:off x="563050" y="194100"/>
            <a:ext cx="8458200" cy="3936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52380"/>
              <a:buFont typeface="Arial"/>
              <a:buNone/>
            </a:pPr>
            <a:r>
              <a:rPr b="1" lang="en" sz="2100"/>
              <a:t>Custom CG Iterative Calculations:  </a:t>
            </a:r>
            <a:r>
              <a:rPr lang="en" sz="2100"/>
              <a:t>                           </a:t>
            </a:r>
            <a:r>
              <a:rPr lang="en" sz="1550"/>
              <a:t> </a:t>
            </a:r>
            <a:r>
              <a:rPr lang="en" sz="1550">
                <a:solidFill>
                  <a:srgbClr val="999999"/>
                </a:solidFill>
              </a:rPr>
              <a:t>(methodology continued……)</a:t>
            </a:r>
            <a:endParaRPr sz="1550"/>
          </a:p>
        </p:txBody>
      </p:sp>
      <p:sp>
        <p:nvSpPr>
          <p:cNvPr id="152" name="Google Shape;152;p22"/>
          <p:cNvSpPr txBox="1"/>
          <p:nvPr>
            <p:ph idx="1" type="body"/>
          </p:nvPr>
        </p:nvSpPr>
        <p:spPr>
          <a:xfrm>
            <a:off x="311700" y="602725"/>
            <a:ext cx="8520600" cy="4413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solidFill>
                  <a:srgbClr val="666666"/>
                </a:solidFill>
              </a:rPr>
              <a:t>For each iteration i, the algorithm computes the optimal step size (α) and updates the conjugate direction (d_next).</a:t>
            </a:r>
            <a:endParaRPr sz="1600">
              <a:solidFill>
                <a:srgbClr val="666666"/>
              </a:solidFill>
            </a:endParaRPr>
          </a:p>
          <a:p>
            <a:pPr indent="0" lvl="0" marL="0" rtl="0" algn="l">
              <a:spcBef>
                <a:spcPts val="0"/>
              </a:spcBef>
              <a:spcAft>
                <a:spcPts val="0"/>
              </a:spcAft>
              <a:buClr>
                <a:schemeClr val="dk1"/>
              </a:buClr>
              <a:buSzPts val="1100"/>
              <a:buFont typeface="Arial"/>
              <a:buNone/>
            </a:pPr>
            <a:r>
              <a:t/>
            </a:r>
            <a:endParaRPr sz="1200">
              <a:solidFill>
                <a:srgbClr val="666666"/>
              </a:solidFill>
            </a:endParaRPr>
          </a:p>
          <a:p>
            <a:pPr indent="0" lvl="0" marL="0" rtl="0" algn="l">
              <a:spcBef>
                <a:spcPts val="0"/>
              </a:spcBef>
              <a:spcAft>
                <a:spcPts val="0"/>
              </a:spcAft>
              <a:buClr>
                <a:schemeClr val="dk1"/>
              </a:buClr>
              <a:buSzPts val="1100"/>
              <a:buFont typeface="Arial"/>
              <a:buNone/>
            </a:pPr>
            <a:r>
              <a:rPr lang="en" sz="1600">
                <a:solidFill>
                  <a:srgbClr val="666666"/>
                </a:solidFill>
              </a:rPr>
              <a:t>1. Hessian–Direction Product (H_d)</a:t>
            </a:r>
            <a:endParaRPr sz="1600">
              <a:solidFill>
                <a:srgbClr val="666666"/>
              </a:solidFill>
            </a:endParaRPr>
          </a:p>
          <a:p>
            <a:pPr indent="0" lvl="0" marL="0" rtl="0" algn="l">
              <a:spcBef>
                <a:spcPts val="0"/>
              </a:spcBef>
              <a:spcAft>
                <a:spcPts val="0"/>
              </a:spcAft>
              <a:buClr>
                <a:schemeClr val="dk1"/>
              </a:buClr>
              <a:buSzPts val="1100"/>
              <a:buFont typeface="Arial"/>
              <a:buNone/>
            </a:pPr>
            <a:r>
              <a:rPr lang="en" sz="1600">
                <a:solidFill>
                  <a:srgbClr val="666666"/>
                </a:solidFill>
              </a:rPr>
              <a:t>The product H_d is required to compute the optimal step size.  </a:t>
            </a:r>
            <a:endParaRPr sz="1600">
              <a:solidFill>
                <a:srgbClr val="666666"/>
              </a:solidFill>
            </a:endParaRPr>
          </a:p>
          <a:p>
            <a:pPr indent="0" lvl="0" marL="0" rtl="0" algn="l">
              <a:spcBef>
                <a:spcPts val="0"/>
              </a:spcBef>
              <a:spcAft>
                <a:spcPts val="0"/>
              </a:spcAft>
              <a:buNone/>
            </a:pPr>
            <a:r>
              <a:rPr lang="en" sz="1600">
                <a:solidFill>
                  <a:srgbClr val="666666"/>
                </a:solidFill>
              </a:rPr>
              <a:t>  For the MSE objective, the Hessian is given by:  </a:t>
            </a:r>
            <a:endParaRPr sz="1600">
              <a:solidFill>
                <a:srgbClr val="666666"/>
              </a:solidFill>
            </a:endParaRPr>
          </a:p>
          <a:p>
            <a:pPr indent="0" lvl="0" marL="0" rtl="0" algn="l">
              <a:spcBef>
                <a:spcPts val="0"/>
              </a:spcBef>
              <a:spcAft>
                <a:spcPts val="0"/>
              </a:spcAft>
              <a:buNone/>
            </a:pPr>
            <a:r>
              <a:rPr lang="en" sz="1600">
                <a:solidFill>
                  <a:srgbClr val="666666"/>
                </a:solidFill>
              </a:rPr>
              <a:t>  Then:  </a:t>
            </a:r>
            <a:endParaRPr sz="1200">
              <a:solidFill>
                <a:srgbClr val="666666"/>
              </a:solidFill>
            </a:endParaRPr>
          </a:p>
          <a:p>
            <a:pPr indent="0" lvl="0" marL="0" rtl="0" algn="l">
              <a:spcBef>
                <a:spcPts val="0"/>
              </a:spcBef>
              <a:spcAft>
                <a:spcPts val="0"/>
              </a:spcAft>
              <a:buNone/>
            </a:pPr>
            <a:r>
              <a:rPr lang="en" sz="1600">
                <a:solidFill>
                  <a:srgbClr val="666666"/>
                </a:solidFill>
              </a:rPr>
              <a:t>2. Analytical Step Size (α)</a:t>
            </a:r>
            <a:endParaRPr sz="1600">
              <a:solidFill>
                <a:srgbClr val="666666"/>
              </a:solidFill>
            </a:endParaRPr>
          </a:p>
          <a:p>
            <a:pPr indent="0" lvl="0" marL="0" rtl="0" algn="l">
              <a:spcBef>
                <a:spcPts val="0"/>
              </a:spcBef>
              <a:spcAft>
                <a:spcPts val="0"/>
              </a:spcAft>
              <a:buNone/>
            </a:pPr>
            <a:r>
              <a:rPr lang="en" sz="1600">
                <a:solidFill>
                  <a:srgbClr val="666666"/>
                </a:solidFill>
              </a:rPr>
              <a:t>After that we applied Fibonacci </a:t>
            </a:r>
            <a:r>
              <a:rPr lang="en" sz="1600">
                <a:solidFill>
                  <a:srgbClr val="666666"/>
                </a:solidFill>
              </a:rPr>
              <a:t>line search on </a:t>
            </a:r>
            <a:r>
              <a:rPr lang="en" sz="1600">
                <a:solidFill>
                  <a:srgbClr val="666666"/>
                </a:solidFill>
              </a:rPr>
              <a:t>quadratic </a:t>
            </a:r>
            <a:r>
              <a:rPr lang="en" sz="1600">
                <a:solidFill>
                  <a:srgbClr val="666666"/>
                </a:solidFill>
              </a:rPr>
              <a:t>objective func</a:t>
            </a:r>
            <a:r>
              <a:rPr lang="en" sz="1600">
                <a:solidFill>
                  <a:srgbClr val="666666"/>
                </a:solidFill>
              </a:rPr>
              <a:t>, to calculate the exact analytical step size.</a:t>
            </a:r>
            <a:endParaRPr sz="1600">
              <a:solidFill>
                <a:srgbClr val="666666"/>
              </a:solidFill>
            </a:endParaRPr>
          </a:p>
          <a:p>
            <a:pPr indent="0" lvl="0" marL="0" rtl="0" algn="l">
              <a:spcBef>
                <a:spcPts val="0"/>
              </a:spcBef>
              <a:spcAft>
                <a:spcPts val="0"/>
              </a:spcAft>
              <a:buNone/>
            </a:pPr>
            <a:r>
              <a:rPr lang="en" sz="1600">
                <a:solidFill>
                  <a:srgbClr val="666666"/>
                </a:solidFill>
              </a:rPr>
              <a:t>3. Update Weights and Residual:  </a:t>
            </a:r>
            <a:endParaRPr sz="1200">
              <a:solidFill>
                <a:srgbClr val="666666"/>
              </a:solidFill>
            </a:endParaRPr>
          </a:p>
          <a:p>
            <a:pPr indent="0" lvl="0" marL="0" rtl="0" algn="l">
              <a:spcBef>
                <a:spcPts val="0"/>
              </a:spcBef>
              <a:spcAft>
                <a:spcPts val="0"/>
              </a:spcAft>
              <a:buNone/>
            </a:pPr>
            <a:r>
              <a:rPr lang="en" sz="1600">
                <a:solidFill>
                  <a:srgbClr val="666666"/>
                </a:solidFill>
              </a:rPr>
              <a:t>4. Conjugacy Parameter (β)</a:t>
            </a:r>
            <a:endParaRPr sz="1600">
              <a:solidFill>
                <a:srgbClr val="666666"/>
              </a:solidFill>
            </a:endParaRPr>
          </a:p>
          <a:p>
            <a:pPr indent="0" lvl="0" marL="0" rtl="0" algn="l">
              <a:spcBef>
                <a:spcPts val="0"/>
              </a:spcBef>
              <a:spcAft>
                <a:spcPts val="0"/>
              </a:spcAft>
              <a:buNone/>
            </a:pPr>
            <a:r>
              <a:rPr lang="en" sz="1600">
                <a:solidFill>
                  <a:srgbClr val="666666"/>
                </a:solidFill>
              </a:rPr>
              <a:t>Using the Fletcher–Reeves update rule to maintain conjugacy between directions:</a:t>
            </a:r>
            <a:endParaRPr sz="1600">
              <a:solidFill>
                <a:srgbClr val="666666"/>
              </a:solidFill>
            </a:endParaRPr>
          </a:p>
          <a:p>
            <a:pPr indent="0" lvl="0" marL="0" rtl="0" algn="l">
              <a:spcBef>
                <a:spcPts val="0"/>
              </a:spcBef>
              <a:spcAft>
                <a:spcPts val="0"/>
              </a:spcAft>
              <a:buClr>
                <a:schemeClr val="dk1"/>
              </a:buClr>
              <a:buSzPts val="1100"/>
              <a:buFont typeface="Arial"/>
              <a:buNone/>
            </a:pPr>
            <a:r>
              <a:t/>
            </a:r>
            <a:endParaRPr sz="1600">
              <a:solidFill>
                <a:srgbClr val="666666"/>
              </a:solidFill>
            </a:endParaRPr>
          </a:p>
        </p:txBody>
      </p:sp>
      <p:pic>
        <p:nvPicPr>
          <p:cNvPr id="153" name="Google Shape;153;p22"/>
          <p:cNvPicPr preferRelativeResize="0"/>
          <p:nvPr/>
        </p:nvPicPr>
        <p:blipFill>
          <a:blip r:embed="rId3">
            <a:alphaModFix/>
          </a:blip>
          <a:stretch>
            <a:fillRect/>
          </a:stretch>
        </p:blipFill>
        <p:spPr>
          <a:xfrm>
            <a:off x="4931175" y="2011600"/>
            <a:ext cx="1224750" cy="304000"/>
          </a:xfrm>
          <a:prstGeom prst="rect">
            <a:avLst/>
          </a:prstGeom>
          <a:noFill/>
          <a:ln>
            <a:noFill/>
          </a:ln>
        </p:spPr>
      </p:pic>
      <p:pic>
        <p:nvPicPr>
          <p:cNvPr id="154" name="Google Shape;154;p22"/>
          <p:cNvPicPr preferRelativeResize="0"/>
          <p:nvPr/>
        </p:nvPicPr>
        <p:blipFill>
          <a:blip r:embed="rId4">
            <a:alphaModFix/>
          </a:blip>
          <a:stretch>
            <a:fillRect/>
          </a:stretch>
        </p:blipFill>
        <p:spPr>
          <a:xfrm>
            <a:off x="1326225" y="2266950"/>
            <a:ext cx="1224750" cy="304800"/>
          </a:xfrm>
          <a:prstGeom prst="rect">
            <a:avLst/>
          </a:prstGeom>
          <a:noFill/>
          <a:ln>
            <a:noFill/>
          </a:ln>
        </p:spPr>
      </p:pic>
      <p:pic>
        <p:nvPicPr>
          <p:cNvPr id="155" name="Google Shape;155;p22"/>
          <p:cNvPicPr preferRelativeResize="0"/>
          <p:nvPr/>
        </p:nvPicPr>
        <p:blipFill>
          <a:blip r:embed="rId5">
            <a:alphaModFix/>
          </a:blip>
          <a:stretch>
            <a:fillRect/>
          </a:stretch>
        </p:blipFill>
        <p:spPr>
          <a:xfrm>
            <a:off x="3794625" y="3452213"/>
            <a:ext cx="990600" cy="224950"/>
          </a:xfrm>
          <a:prstGeom prst="rect">
            <a:avLst/>
          </a:prstGeom>
          <a:noFill/>
          <a:ln>
            <a:noFill/>
          </a:ln>
        </p:spPr>
      </p:pic>
      <p:pic>
        <p:nvPicPr>
          <p:cNvPr id="156" name="Google Shape;156;p22"/>
          <p:cNvPicPr preferRelativeResize="0"/>
          <p:nvPr/>
        </p:nvPicPr>
        <p:blipFill>
          <a:blip r:embed="rId6">
            <a:alphaModFix/>
          </a:blip>
          <a:stretch>
            <a:fillRect/>
          </a:stretch>
        </p:blipFill>
        <p:spPr>
          <a:xfrm>
            <a:off x="5223750" y="3452225"/>
            <a:ext cx="1038225" cy="224925"/>
          </a:xfrm>
          <a:prstGeom prst="rect">
            <a:avLst/>
          </a:prstGeom>
          <a:noFill/>
          <a:ln>
            <a:noFill/>
          </a:ln>
        </p:spPr>
      </p:pic>
      <p:pic>
        <p:nvPicPr>
          <p:cNvPr id="157" name="Google Shape;157;p22"/>
          <p:cNvPicPr preferRelativeResize="0"/>
          <p:nvPr/>
        </p:nvPicPr>
        <p:blipFill>
          <a:blip r:embed="rId7">
            <a:alphaModFix/>
          </a:blip>
          <a:stretch>
            <a:fillRect/>
          </a:stretch>
        </p:blipFill>
        <p:spPr>
          <a:xfrm>
            <a:off x="3369825" y="4306100"/>
            <a:ext cx="1801575" cy="515975"/>
          </a:xfrm>
          <a:prstGeom prst="rect">
            <a:avLst/>
          </a:prstGeom>
          <a:noFill/>
          <a:ln>
            <a:noFill/>
          </a:ln>
        </p:spPr>
      </p:pic>
      <p:sp>
        <p:nvSpPr>
          <p:cNvPr id="158" name="Google Shape;15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59" name="Google Shape;159;p22"/>
          <p:cNvSpPr/>
          <p:nvPr/>
        </p:nvSpPr>
        <p:spPr>
          <a:xfrm>
            <a:off x="208750" y="264750"/>
            <a:ext cx="354300" cy="252300"/>
          </a:xfrm>
          <a:prstGeom prst="homePlate">
            <a:avLst>
              <a:gd fmla="val 35452"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3"/>
          <p:cNvSpPr txBox="1"/>
          <p:nvPr>
            <p:ph type="title"/>
          </p:nvPr>
        </p:nvSpPr>
        <p:spPr>
          <a:xfrm>
            <a:off x="214425" y="1073504"/>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000" u="sng"/>
              <a:t>Results &amp; Discussions: </a:t>
            </a:r>
            <a:endParaRPr b="1" sz="2000" u="sng"/>
          </a:p>
        </p:txBody>
      </p:sp>
      <p:sp>
        <p:nvSpPr>
          <p:cNvPr id="165" name="Google Shape;165;p23"/>
          <p:cNvSpPr txBox="1"/>
          <p:nvPr>
            <p:ph idx="1" type="body"/>
          </p:nvPr>
        </p:nvSpPr>
        <p:spPr>
          <a:xfrm>
            <a:off x="311700" y="143250"/>
            <a:ext cx="8520600" cy="98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solidFill>
                  <a:srgbClr val="666666"/>
                </a:solidFill>
              </a:rPr>
              <a:t>5. Update Search Direction</a:t>
            </a:r>
            <a:endParaRPr sz="1600">
              <a:solidFill>
                <a:srgbClr val="666666"/>
              </a:solidFill>
            </a:endParaRPr>
          </a:p>
          <a:p>
            <a:pPr indent="0" lvl="0" marL="0" rtl="0" algn="l">
              <a:spcBef>
                <a:spcPts val="0"/>
              </a:spcBef>
              <a:spcAft>
                <a:spcPts val="0"/>
              </a:spcAft>
              <a:buNone/>
            </a:pPr>
            <a:r>
              <a:rPr lang="en" sz="1600">
                <a:solidFill>
                  <a:srgbClr val="666666"/>
                </a:solidFill>
              </a:rPr>
              <a:t>The next direction combines the new residual and the previous direction scaled by β:</a:t>
            </a:r>
            <a:endParaRPr sz="1600">
              <a:solidFill>
                <a:srgbClr val="666666"/>
              </a:solidFill>
            </a:endParaRPr>
          </a:p>
          <a:p>
            <a:pPr indent="0" lvl="0" marL="0" rtl="0" algn="l">
              <a:spcBef>
                <a:spcPts val="0"/>
              </a:spcBef>
              <a:spcAft>
                <a:spcPts val="0"/>
              </a:spcAft>
              <a:buClr>
                <a:schemeClr val="dk1"/>
              </a:buClr>
              <a:buSzPts val="1100"/>
              <a:buFont typeface="Arial"/>
              <a:buNone/>
            </a:pPr>
            <a:r>
              <a:t/>
            </a:r>
            <a:endParaRPr sz="1600">
              <a:solidFill>
                <a:srgbClr val="666666"/>
              </a:solidFill>
            </a:endParaRPr>
          </a:p>
        </p:txBody>
      </p:sp>
      <p:pic>
        <p:nvPicPr>
          <p:cNvPr id="166" name="Google Shape;166;p23"/>
          <p:cNvPicPr preferRelativeResize="0"/>
          <p:nvPr/>
        </p:nvPicPr>
        <p:blipFill>
          <a:blip r:embed="rId3">
            <a:alphaModFix/>
          </a:blip>
          <a:stretch>
            <a:fillRect/>
          </a:stretch>
        </p:blipFill>
        <p:spPr>
          <a:xfrm>
            <a:off x="2632950" y="821600"/>
            <a:ext cx="1577825" cy="251900"/>
          </a:xfrm>
          <a:prstGeom prst="rect">
            <a:avLst/>
          </a:prstGeom>
          <a:noFill/>
          <a:ln>
            <a:noFill/>
          </a:ln>
        </p:spPr>
      </p:pic>
      <p:sp>
        <p:nvSpPr>
          <p:cNvPr id="167" name="Google Shape;167;p23"/>
          <p:cNvSpPr txBox="1"/>
          <p:nvPr/>
        </p:nvSpPr>
        <p:spPr>
          <a:xfrm>
            <a:off x="214425" y="1478200"/>
            <a:ext cx="8775000" cy="326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600">
                <a:solidFill>
                  <a:srgbClr val="666666"/>
                </a:solidFill>
              </a:rPr>
              <a:t>Key Finding:</a:t>
            </a:r>
            <a:r>
              <a:rPr lang="en" sz="1600">
                <a:solidFill>
                  <a:srgbClr val="666666"/>
                </a:solidFill>
              </a:rPr>
              <a:t> All Methods Show High </a:t>
            </a:r>
            <a:r>
              <a:rPr lang="en" sz="1600">
                <a:solidFill>
                  <a:srgbClr val="666666"/>
                </a:solidFill>
              </a:rPr>
              <a:t>Accuracy. The</a:t>
            </a:r>
            <a:r>
              <a:rPr lang="en" sz="1600">
                <a:solidFill>
                  <a:srgbClr val="666666"/>
                </a:solidFill>
              </a:rPr>
              <a:t> implementations were validated when all three optimisation techniques; Analytical Least Squares, Scipy CG, and Custom CG converged to nearly identical high-accuracy solutions.</a:t>
            </a:r>
            <a:endParaRPr sz="1600">
              <a:solidFill>
                <a:srgbClr val="666666"/>
              </a:solidFill>
            </a:endParaRPr>
          </a:p>
          <a:p>
            <a:pPr indent="0" lvl="0" marL="0" rtl="0" algn="l">
              <a:lnSpc>
                <a:spcPct val="115000"/>
              </a:lnSpc>
              <a:spcBef>
                <a:spcPts val="0"/>
              </a:spcBef>
              <a:spcAft>
                <a:spcPts val="0"/>
              </a:spcAft>
              <a:buNone/>
            </a:pPr>
            <a:r>
              <a:rPr b="1" lang="en" sz="1600">
                <a:solidFill>
                  <a:srgbClr val="666666"/>
                </a:solidFill>
              </a:rPr>
              <a:t>Core Linear Model (Example of AAPL)</a:t>
            </a:r>
            <a:r>
              <a:rPr lang="en" sz="1600">
                <a:solidFill>
                  <a:srgbClr val="666666"/>
                </a:solidFill>
              </a:rPr>
              <a:t>With an extremely low Mean SquaredError (MSE) of roughly 0.363, the model forecasting Apple's (AAPL) closing price showed a nearly perfect fit.</a:t>
            </a:r>
            <a:endParaRPr sz="1600">
              <a:solidFill>
                <a:srgbClr val="666666"/>
              </a:solidFill>
            </a:endParaRPr>
          </a:p>
          <a:p>
            <a:pPr indent="0" lvl="0" marL="0" rtl="0" algn="l">
              <a:lnSpc>
                <a:spcPct val="115000"/>
              </a:lnSpc>
              <a:spcBef>
                <a:spcPts val="0"/>
              </a:spcBef>
              <a:spcAft>
                <a:spcPts val="0"/>
              </a:spcAft>
              <a:buNone/>
            </a:pPr>
            <a:r>
              <a:t/>
            </a:r>
            <a:endParaRPr sz="1600">
              <a:solidFill>
                <a:srgbClr val="666666"/>
              </a:solidFill>
            </a:endParaRPr>
          </a:p>
          <a:p>
            <a:pPr indent="0" lvl="0" marL="0" rtl="0" algn="l">
              <a:lnSpc>
                <a:spcPct val="115000"/>
              </a:lnSpc>
              <a:spcBef>
                <a:spcPts val="0"/>
              </a:spcBef>
              <a:spcAft>
                <a:spcPts val="0"/>
              </a:spcAft>
              <a:buNone/>
            </a:pPr>
            <a:r>
              <a:rPr lang="en" sz="1600">
                <a:solidFill>
                  <a:srgbClr val="666666"/>
                </a:solidFill>
              </a:rPr>
              <a:t>                    Close Price = -0.659 Open + 0.852 High+ 0.807 Low   </a:t>
            </a:r>
            <a:endParaRPr sz="1600">
              <a:solidFill>
                <a:srgbClr val="666666"/>
              </a:solidFill>
            </a:endParaRPr>
          </a:p>
          <a:p>
            <a:pPr indent="0" lvl="0" marL="0" rtl="0" algn="l">
              <a:lnSpc>
                <a:spcPct val="115000"/>
              </a:lnSpc>
              <a:spcBef>
                <a:spcPts val="0"/>
              </a:spcBef>
              <a:spcAft>
                <a:spcPts val="0"/>
              </a:spcAft>
              <a:buNone/>
            </a:pPr>
            <a:r>
              <a:t/>
            </a:r>
            <a:endParaRPr sz="1600">
              <a:solidFill>
                <a:srgbClr val="666666"/>
              </a:solidFill>
            </a:endParaRPr>
          </a:p>
          <a:p>
            <a:pPr indent="0" lvl="0" marL="0" rtl="0" algn="l">
              <a:lnSpc>
                <a:spcPct val="115000"/>
              </a:lnSpc>
              <a:spcBef>
                <a:spcPts val="0"/>
              </a:spcBef>
              <a:spcAft>
                <a:spcPts val="0"/>
              </a:spcAft>
              <a:buNone/>
            </a:pPr>
            <a:r>
              <a:rPr b="1" lang="en" sz="1600">
                <a:solidFill>
                  <a:srgbClr val="666666"/>
                </a:solidFill>
              </a:rPr>
              <a:t>Insights into Finance (Feature Weights):</a:t>
            </a:r>
            <a:endParaRPr b="1" sz="1600">
              <a:solidFill>
                <a:srgbClr val="666666"/>
              </a:solidFill>
            </a:endParaRPr>
          </a:p>
          <a:p>
            <a:pPr indent="0" lvl="0" marL="0" rtl="0" algn="l">
              <a:lnSpc>
                <a:spcPct val="115000"/>
              </a:lnSpc>
              <a:spcBef>
                <a:spcPts val="0"/>
              </a:spcBef>
              <a:spcAft>
                <a:spcPts val="0"/>
              </a:spcAft>
              <a:buNone/>
            </a:pPr>
            <a:r>
              <a:rPr lang="en" sz="1600">
                <a:solidFill>
                  <a:srgbClr val="666666"/>
                </a:solidFill>
              </a:rPr>
              <a:t>The best positive predictor is high price (≈ 0.852). The final close is significantly impacted by the day's peak price.A strong positive predictor is low price (≈ 0.807). A solid support level for </a:t>
            </a:r>
            <a:endParaRPr sz="1600">
              <a:solidFill>
                <a:srgbClr val="666666"/>
              </a:solidFill>
            </a:endParaRPr>
          </a:p>
        </p:txBody>
      </p:sp>
      <p:sp>
        <p:nvSpPr>
          <p:cNvPr id="168" name="Google Shape;168;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4"/>
          <p:cNvSpPr txBox="1"/>
          <p:nvPr>
            <p:ph idx="1" type="body"/>
          </p:nvPr>
        </p:nvSpPr>
        <p:spPr>
          <a:xfrm>
            <a:off x="117950" y="1017725"/>
            <a:ext cx="8793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1100">
              <a:solidFill>
                <a:srgbClr val="1B1C1D"/>
              </a:solidFill>
            </a:endParaRPr>
          </a:p>
          <a:p>
            <a:pPr indent="0" lvl="0" marL="0" rtl="0" algn="l">
              <a:spcBef>
                <a:spcPts val="0"/>
              </a:spcBef>
              <a:spcAft>
                <a:spcPts val="1200"/>
              </a:spcAft>
              <a:buNone/>
            </a:pPr>
            <a:r>
              <a:t/>
            </a:r>
            <a:endParaRPr/>
          </a:p>
        </p:txBody>
      </p:sp>
      <p:sp>
        <p:nvSpPr>
          <p:cNvPr id="174" name="Google Shape;174;p24"/>
          <p:cNvSpPr txBox="1"/>
          <p:nvPr/>
        </p:nvSpPr>
        <p:spPr>
          <a:xfrm>
            <a:off x="453475" y="724300"/>
            <a:ext cx="8402400" cy="1410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600">
                <a:solidFill>
                  <a:schemeClr val="dk1"/>
                </a:solidFill>
              </a:rPr>
              <a:t>the close is established by the day's floor price.Open Price (≈ -0.659): The negative weight indicates that intraday movements (high/low) are a better predictor of the closing price than the opening price.</a:t>
            </a:r>
            <a:endParaRPr sz="1800">
              <a:solidFill>
                <a:schemeClr val="dk2"/>
              </a:solidFill>
            </a:endParaRPr>
          </a:p>
        </p:txBody>
      </p:sp>
      <p:sp>
        <p:nvSpPr>
          <p:cNvPr id="175" name="Google Shape;175;p24"/>
          <p:cNvSpPr txBox="1"/>
          <p:nvPr>
            <p:ph type="title"/>
          </p:nvPr>
        </p:nvSpPr>
        <p:spPr>
          <a:xfrm>
            <a:off x="795650" y="1748100"/>
            <a:ext cx="51417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highlight>
                  <a:schemeClr val="lt1"/>
                </a:highlight>
              </a:rPr>
              <a:t>Comparison Of Optimization Method:</a:t>
            </a:r>
            <a:endParaRPr sz="1800">
              <a:highlight>
                <a:schemeClr val="lt1"/>
              </a:highlight>
            </a:endParaRPr>
          </a:p>
        </p:txBody>
      </p:sp>
      <p:sp>
        <p:nvSpPr>
          <p:cNvPr id="176" name="Google Shape;176;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177" name="Google Shape;177;p24"/>
          <p:cNvGraphicFramePr/>
          <p:nvPr/>
        </p:nvGraphicFramePr>
        <p:xfrm>
          <a:off x="596275" y="2320800"/>
          <a:ext cx="3000000" cy="3000000"/>
        </p:xfrm>
        <a:graphic>
          <a:graphicData uri="http://schemas.openxmlformats.org/drawingml/2006/table">
            <a:tbl>
              <a:tblPr>
                <a:noFill/>
                <a:tableStyleId>{0F8D7ECB-FE79-4788-A643-F168B5DF984E}</a:tableStyleId>
              </a:tblPr>
              <a:tblGrid>
                <a:gridCol w="2241425"/>
                <a:gridCol w="1840125"/>
                <a:gridCol w="1888800"/>
                <a:gridCol w="1682050"/>
              </a:tblGrid>
              <a:tr h="498425">
                <a:tc>
                  <a:txBody>
                    <a:bodyPr/>
                    <a:lstStyle/>
                    <a:p>
                      <a:pPr indent="0" lvl="0" marL="0" rtl="0" algn="l">
                        <a:lnSpc>
                          <a:spcPct val="115000"/>
                        </a:lnSpc>
                        <a:spcBef>
                          <a:spcPts val="0"/>
                        </a:spcBef>
                        <a:spcAft>
                          <a:spcPts val="2400"/>
                        </a:spcAft>
                        <a:buNone/>
                      </a:pPr>
                      <a:r>
                        <a:rPr b="1" lang="en"/>
                        <a:t>Method</a:t>
                      </a:r>
                      <a:endParaRPr b="1"/>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a:t>Runtime(Seconds)</a:t>
                      </a:r>
                      <a:endParaRPr b="1"/>
                    </a:p>
                  </a:txBody>
                  <a:tcPr marT="91425" marB="91425" marR="91425" marL="91425">
                    <a:lnL cap="flat" cmpd="sng" w="9525">
                      <a:solidFill>
                        <a:srgbClr val="000000"/>
                      </a:solidFill>
                      <a:prstDash val="solid"/>
                      <a:round/>
                      <a:headEnd len="sm" w="sm" type="none"/>
                      <a:tailEnd len="sm" w="sm" type="none"/>
                    </a:lnL>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Final Mse</a:t>
                      </a:r>
                      <a:endParaRPr b="1"/>
                    </a:p>
                  </a:txBody>
                  <a:tcPr marT="91425" marB="91425" marR="91425" marL="91425"/>
                </a:tc>
                <a:tc>
                  <a:txBody>
                    <a:bodyPr/>
                    <a:lstStyle/>
                    <a:p>
                      <a:pPr indent="0" lvl="0" marL="0" rtl="0" algn="l">
                        <a:spcBef>
                          <a:spcPts val="0"/>
                        </a:spcBef>
                        <a:spcAft>
                          <a:spcPts val="0"/>
                        </a:spcAft>
                        <a:buNone/>
                      </a:pPr>
                      <a:r>
                        <a:rPr b="1" lang="en"/>
                        <a:t>Iterations/Steps</a:t>
                      </a:r>
                      <a:endParaRPr b="1"/>
                    </a:p>
                  </a:txBody>
                  <a:tcPr marT="91425" marB="91425" marR="91425" marL="91425"/>
                </a:tc>
              </a:tr>
              <a:tr h="381000">
                <a:tc>
                  <a:txBody>
                    <a:bodyPr/>
                    <a:lstStyle/>
                    <a:p>
                      <a:pPr indent="0" lvl="0" marL="0" rtl="0" algn="l">
                        <a:spcBef>
                          <a:spcPts val="0"/>
                        </a:spcBef>
                        <a:spcAft>
                          <a:spcPts val="0"/>
                        </a:spcAft>
                        <a:buNone/>
                      </a:pPr>
                      <a:r>
                        <a:rPr b="1" lang="en">
                          <a:solidFill>
                            <a:schemeClr val="dk1"/>
                          </a:solidFill>
                        </a:rPr>
                        <a:t>Least Squares (Analytical)</a:t>
                      </a:r>
                      <a:endParaRPr u="sng">
                        <a:solidFill>
                          <a:schemeClr val="dk1"/>
                        </a:solidFill>
                      </a:endParaRPr>
                    </a:p>
                  </a:txBody>
                  <a:tcPr marT="91425" marB="91425" marR="91425" marL="91425">
                    <a:lnT cap="flat" cmpd="sng" w="9525">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rPr lang="en"/>
                        <a:t>0.005986</a:t>
                      </a:r>
                      <a:endParaRPr/>
                    </a:p>
                  </a:txBody>
                  <a:tcPr marT="91425" marB="91425" marR="91425" marL="91425"/>
                </a:tc>
                <a:tc>
                  <a:txBody>
                    <a:bodyPr/>
                    <a:lstStyle/>
                    <a:p>
                      <a:pPr indent="0" lvl="0" marL="0" rtl="0" algn="l">
                        <a:spcBef>
                          <a:spcPts val="0"/>
                        </a:spcBef>
                        <a:spcAft>
                          <a:spcPts val="0"/>
                        </a:spcAft>
                        <a:buNone/>
                      </a:pPr>
                      <a:r>
                        <a:rPr lang="en"/>
                        <a:t>0.362631</a:t>
                      </a:r>
                      <a:endParaRPr/>
                    </a:p>
                  </a:txBody>
                  <a:tcPr marT="91425" marB="91425" marR="91425" marL="91425"/>
                </a:tc>
                <a:tc>
                  <a:txBody>
                    <a:bodyPr/>
                    <a:lstStyle/>
                    <a:p>
                      <a:pPr indent="0" lvl="0" marL="0" rtl="0" algn="l">
                        <a:spcBef>
                          <a:spcPts val="0"/>
                        </a:spcBef>
                        <a:spcAft>
                          <a:spcPts val="0"/>
                        </a:spcAft>
                        <a:buNone/>
                      </a:pPr>
                      <a:r>
                        <a:rPr lang="en"/>
                        <a:t>N/A</a:t>
                      </a:r>
                      <a:endParaRPr/>
                    </a:p>
                  </a:txBody>
                  <a:tcPr marT="91425" marB="91425" marR="91425" marL="91425"/>
                </a:tc>
              </a:tr>
              <a:tr h="381000">
                <a:tc>
                  <a:txBody>
                    <a:bodyPr/>
                    <a:lstStyle/>
                    <a:p>
                      <a:pPr indent="0" lvl="0" marL="0" rtl="0" algn="l">
                        <a:lnSpc>
                          <a:spcPct val="115000"/>
                        </a:lnSpc>
                        <a:spcBef>
                          <a:spcPts val="0"/>
                        </a:spcBef>
                        <a:spcAft>
                          <a:spcPts val="2400"/>
                        </a:spcAft>
                        <a:buClr>
                          <a:schemeClr val="dk1"/>
                        </a:buClr>
                        <a:buSzPts val="1100"/>
                        <a:buFont typeface="Arial"/>
                        <a:buNone/>
                      </a:pPr>
                      <a:r>
                        <a:rPr b="1" lang="en">
                          <a:solidFill>
                            <a:srgbClr val="1B1C1D"/>
                          </a:solidFill>
                        </a:rPr>
                        <a:t>Scipy's Conjugate Gradient (CG</a:t>
                      </a:r>
                      <a:r>
                        <a:rPr b="1" lang="en" sz="1100">
                          <a:solidFill>
                            <a:srgbClr val="1B1C1D"/>
                          </a:solidFill>
                        </a:rPr>
                        <a:t>)</a:t>
                      </a:r>
                      <a:endParaRPr/>
                    </a:p>
                  </a:txBody>
                  <a:tcPr marT="91425" marB="91425" marR="91425" marL="91425"/>
                </a:tc>
                <a:tc>
                  <a:txBody>
                    <a:bodyPr/>
                    <a:lstStyle/>
                    <a:p>
                      <a:pPr indent="0" lvl="0" marL="0" rtl="0" algn="l">
                        <a:spcBef>
                          <a:spcPts val="0"/>
                        </a:spcBef>
                        <a:spcAft>
                          <a:spcPts val="0"/>
                        </a:spcAft>
                        <a:buNone/>
                      </a:pPr>
                      <a:r>
                        <a:rPr lang="en"/>
                        <a:t>0.089793</a:t>
                      </a:r>
                      <a:endParaRPr/>
                    </a:p>
                  </a:txBody>
                  <a:tcPr marT="91425" marB="91425" marR="91425" marL="91425"/>
                </a:tc>
                <a:tc>
                  <a:txBody>
                    <a:bodyPr/>
                    <a:lstStyle/>
                    <a:p>
                      <a:pPr indent="0" lvl="0" marL="0" rtl="0" algn="l">
                        <a:spcBef>
                          <a:spcPts val="0"/>
                        </a:spcBef>
                        <a:spcAft>
                          <a:spcPts val="0"/>
                        </a:spcAft>
                        <a:buNone/>
                      </a:pPr>
                      <a:r>
                        <a:rPr lang="en"/>
                        <a:t>0.3626</a:t>
                      </a:r>
                      <a:endParaRPr/>
                    </a:p>
                  </a:txBody>
                  <a:tcPr marT="91425" marB="91425" marR="91425" marL="91425"/>
                </a:tc>
                <a:tc>
                  <a:txBody>
                    <a:bodyPr/>
                    <a:lstStyle/>
                    <a:p>
                      <a:pPr indent="0" lvl="0" marL="0" rtl="0" algn="l">
                        <a:spcBef>
                          <a:spcPts val="0"/>
                        </a:spcBef>
                        <a:spcAft>
                          <a:spcPts val="0"/>
                        </a:spcAft>
                        <a:buNone/>
                      </a:pPr>
                      <a:r>
                        <a:rPr lang="en"/>
                        <a:t>50</a:t>
                      </a:r>
                      <a:endParaRPr/>
                    </a:p>
                  </a:txBody>
                  <a:tcPr marT="91425" marB="91425" marR="91425" marL="91425"/>
                </a:tc>
              </a:tr>
              <a:tr h="381000">
                <a:tc>
                  <a:txBody>
                    <a:bodyPr/>
                    <a:lstStyle/>
                    <a:p>
                      <a:pPr indent="0" lvl="0" marL="0" rtl="0" algn="l">
                        <a:spcBef>
                          <a:spcPts val="0"/>
                        </a:spcBef>
                        <a:spcAft>
                          <a:spcPts val="0"/>
                        </a:spcAft>
                        <a:buNone/>
                      </a:pPr>
                      <a:r>
                        <a:rPr b="1" lang="en">
                          <a:solidFill>
                            <a:schemeClr val="dk1"/>
                          </a:solidFill>
                        </a:rPr>
                        <a:t>Custom Conjugate Gradient (CG)</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t>0.2999</a:t>
                      </a:r>
                      <a:endParaRPr/>
                    </a:p>
                  </a:txBody>
                  <a:tcPr marT="91425" marB="91425" marR="91425" marL="91425"/>
                </a:tc>
                <a:tc>
                  <a:txBody>
                    <a:bodyPr/>
                    <a:lstStyle/>
                    <a:p>
                      <a:pPr indent="0" lvl="0" marL="0" rtl="0" algn="l">
                        <a:spcBef>
                          <a:spcPts val="0"/>
                        </a:spcBef>
                        <a:spcAft>
                          <a:spcPts val="0"/>
                        </a:spcAft>
                        <a:buNone/>
                      </a:pPr>
                      <a:r>
                        <a:rPr lang="en"/>
                        <a:t>0.362625</a:t>
                      </a:r>
                      <a:endParaRPr/>
                    </a:p>
                  </a:txBody>
                  <a:tcPr marT="91425" marB="91425" marR="91425" marL="91425"/>
                </a:tc>
                <a:tc>
                  <a:txBody>
                    <a:bodyPr/>
                    <a:lstStyle/>
                    <a:p>
                      <a:pPr indent="0" lvl="0" marL="0" rtl="0" algn="l">
                        <a:spcBef>
                          <a:spcPts val="0"/>
                        </a:spcBef>
                        <a:spcAft>
                          <a:spcPts val="0"/>
                        </a:spcAft>
                        <a:buNone/>
                      </a:pPr>
                      <a:r>
                        <a:rPr lang="en"/>
                        <a:t>150</a:t>
                      </a:r>
                      <a:endParaRPr/>
                    </a:p>
                  </a:txBody>
                  <a:tcPr marT="91425" marB="91425" marR="91425" marL="91425"/>
                </a:tc>
              </a:tr>
            </a:tbl>
          </a:graphicData>
        </a:graphic>
      </p:graphicFrame>
      <p:sp>
        <p:nvSpPr>
          <p:cNvPr id="178" name="Google Shape;178;p24"/>
          <p:cNvSpPr txBox="1"/>
          <p:nvPr/>
        </p:nvSpPr>
        <p:spPr>
          <a:xfrm>
            <a:off x="5171400" y="140650"/>
            <a:ext cx="4122000" cy="47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750">
                <a:solidFill>
                  <a:srgbClr val="999999"/>
                </a:solidFill>
              </a:rPr>
              <a:t>(results &amp; discussions continued……)</a:t>
            </a:r>
            <a:endParaRPr sz="1800">
              <a:solidFill>
                <a:schemeClr val="dk2"/>
              </a:solidFill>
            </a:endParaRPr>
          </a:p>
        </p:txBody>
      </p:sp>
      <p:sp>
        <p:nvSpPr>
          <p:cNvPr id="179" name="Google Shape;179;p24"/>
          <p:cNvSpPr/>
          <p:nvPr/>
        </p:nvSpPr>
        <p:spPr>
          <a:xfrm>
            <a:off x="391150" y="1855150"/>
            <a:ext cx="354300" cy="252300"/>
          </a:xfrm>
          <a:prstGeom prst="homePlate">
            <a:avLst>
              <a:gd fmla="val 35452"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5"/>
          <p:cNvSpPr txBox="1"/>
          <p:nvPr>
            <p:ph type="title"/>
          </p:nvPr>
        </p:nvSpPr>
        <p:spPr>
          <a:xfrm>
            <a:off x="587375" y="111775"/>
            <a:ext cx="54231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47826"/>
              <a:buFont typeface="Arial"/>
              <a:buNone/>
            </a:pPr>
            <a:r>
              <a:rPr lang="en" sz="2300">
                <a:highlight>
                  <a:schemeClr val="lt1"/>
                </a:highlight>
              </a:rPr>
              <a:t>Conjugate</a:t>
            </a:r>
            <a:r>
              <a:rPr lang="en" sz="2300">
                <a:highlight>
                  <a:schemeClr val="lt1"/>
                </a:highlight>
              </a:rPr>
              <a:t> Gradient The Scalable Solution:   </a:t>
            </a:r>
            <a:r>
              <a:rPr lang="en" sz="2300">
                <a:highlight>
                  <a:schemeClr val="lt1"/>
                </a:highlight>
              </a:rPr>
              <a:t>          </a:t>
            </a:r>
            <a:endParaRPr sz="2300">
              <a:highlight>
                <a:schemeClr val="lt1"/>
              </a:highlight>
            </a:endParaRPr>
          </a:p>
          <a:p>
            <a:pPr indent="0" lvl="0" marL="0" rtl="0" algn="l">
              <a:spcBef>
                <a:spcPts val="0"/>
              </a:spcBef>
              <a:spcAft>
                <a:spcPts val="0"/>
              </a:spcAft>
              <a:buNone/>
            </a:pPr>
            <a:r>
              <a:t/>
            </a:r>
            <a:endParaRPr/>
          </a:p>
        </p:txBody>
      </p:sp>
      <p:sp>
        <p:nvSpPr>
          <p:cNvPr id="185" name="Google Shape;185;p25"/>
          <p:cNvSpPr txBox="1"/>
          <p:nvPr>
            <p:ph idx="1" type="body"/>
          </p:nvPr>
        </p:nvSpPr>
        <p:spPr>
          <a:xfrm>
            <a:off x="311700" y="629625"/>
            <a:ext cx="8520600" cy="433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t>Why Financial Modelling Uses Conjugate Gradient (CG) Excels For extensive financial analysis,</a:t>
            </a:r>
            <a:r>
              <a:rPr lang="en" sz="1600"/>
              <a:t>  </a:t>
            </a:r>
            <a:endParaRPr sz="1600"/>
          </a:p>
          <a:p>
            <a:pPr indent="0" lvl="0" marL="0" rtl="0" algn="l">
              <a:spcBef>
                <a:spcPts val="1200"/>
              </a:spcBef>
              <a:spcAft>
                <a:spcPts val="0"/>
              </a:spcAft>
              <a:buClr>
                <a:schemeClr val="dk1"/>
              </a:buClr>
              <a:buSzPts val="1100"/>
              <a:buFont typeface="Arial"/>
              <a:buNone/>
            </a:pPr>
            <a:r>
              <a:rPr lang="en" sz="1600"/>
              <a:t>CG approaches offer the best possible balance between scalability and efficiency.</a:t>
            </a:r>
            <a:endParaRPr sz="1600"/>
          </a:p>
          <a:p>
            <a:pPr indent="0" lvl="0" marL="0" rtl="0" algn="l">
              <a:spcBef>
                <a:spcPts val="1200"/>
              </a:spcBef>
              <a:spcAft>
                <a:spcPts val="0"/>
              </a:spcAft>
              <a:buClr>
                <a:schemeClr val="dk1"/>
              </a:buClr>
              <a:buSzPts val="1100"/>
              <a:buFont typeface="Arial"/>
              <a:buNone/>
            </a:pPr>
            <a:r>
              <a:rPr b="1" lang="en" sz="1600"/>
              <a:t>Scalability for Large Datasets:</a:t>
            </a:r>
            <a:r>
              <a:rPr lang="en" sz="1600"/>
              <a:t> CG circumvents the need to compute and invert the Hessian matrix explicitly. Because of this, it is particularly well-suited for high-dimensional financial data (such as millions of observations or thousands of features), where analytical techniques become computationally prohibitive.</a:t>
            </a:r>
            <a:endParaRPr sz="1600"/>
          </a:p>
          <a:p>
            <a:pPr indent="0" lvl="0" marL="0" rtl="0" algn="l">
              <a:spcBef>
                <a:spcPts val="1200"/>
              </a:spcBef>
              <a:spcAft>
                <a:spcPts val="0"/>
              </a:spcAft>
              <a:buClr>
                <a:schemeClr val="dk1"/>
              </a:buClr>
              <a:buSzPts val="1100"/>
              <a:buFont typeface="Arial"/>
              <a:buNone/>
            </a:pPr>
            <a:r>
              <a:rPr b="1" lang="en" sz="1600"/>
              <a:t>Memory Efficiency:</a:t>
            </a:r>
            <a:r>
              <a:rPr lang="en" sz="1600"/>
              <a:t> By using matrix-vector products instead of storing entire matrices, CG uses a lot less memory. This is perfect for real-time trading systems with limited memory.</a:t>
            </a:r>
            <a:endParaRPr sz="1600"/>
          </a:p>
          <a:p>
            <a:pPr indent="0" lvl="0" marL="0" rtl="0" algn="l">
              <a:spcBef>
                <a:spcPts val="1200"/>
              </a:spcBef>
              <a:spcAft>
                <a:spcPts val="0"/>
              </a:spcAft>
              <a:buClr>
                <a:schemeClr val="dk1"/>
              </a:buClr>
              <a:buSzPts val="1100"/>
              <a:buFont typeface="Arial"/>
              <a:buNone/>
            </a:pPr>
            <a:r>
              <a:rPr b="1" lang="en" sz="1600"/>
              <a:t>Adaptive &amp; Robust Convergence:</a:t>
            </a:r>
            <a:r>
              <a:rPr lang="en" sz="1600"/>
              <a:t> CG avoids redundant searches by using conjugate search directions, which guarantees faster convergence than steepest descent. It provides strong convergence even on ill-conditioned problems by dynamically adjusting to the structure of the data.</a:t>
            </a:r>
            <a:endParaRPr sz="1600"/>
          </a:p>
          <a:p>
            <a:pPr indent="0" lvl="0" marL="0" rtl="0" algn="l">
              <a:spcBef>
                <a:spcPts val="1200"/>
              </a:spcBef>
              <a:spcAft>
                <a:spcPts val="1200"/>
              </a:spcAft>
              <a:buNone/>
            </a:pPr>
            <a:r>
              <a:t/>
            </a:r>
            <a:endParaRPr sz="1600"/>
          </a:p>
        </p:txBody>
      </p:sp>
      <p:sp>
        <p:nvSpPr>
          <p:cNvPr id="186" name="Google Shape;186;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87" name="Google Shape;187;p25"/>
          <p:cNvSpPr txBox="1"/>
          <p:nvPr/>
        </p:nvSpPr>
        <p:spPr>
          <a:xfrm>
            <a:off x="5913125" y="111775"/>
            <a:ext cx="4182900" cy="39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999999"/>
                </a:solidFill>
              </a:rPr>
              <a:t>(results &amp; discussions continued……)</a:t>
            </a:r>
            <a:endParaRPr>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188" name="Google Shape;188;p25"/>
          <p:cNvSpPr/>
          <p:nvPr/>
        </p:nvSpPr>
        <p:spPr>
          <a:xfrm>
            <a:off x="233075" y="271975"/>
            <a:ext cx="354300" cy="252300"/>
          </a:xfrm>
          <a:prstGeom prst="homePlate">
            <a:avLst>
              <a:gd fmla="val 35452"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6"/>
          <p:cNvSpPr txBox="1"/>
          <p:nvPr>
            <p:ph type="title"/>
          </p:nvPr>
        </p:nvSpPr>
        <p:spPr>
          <a:xfrm>
            <a:off x="563050" y="406400"/>
            <a:ext cx="38625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b="1" lang="en" sz="2000"/>
              <a:t>Performance and Practicality:</a:t>
            </a:r>
            <a:endParaRPr b="1" sz="2000"/>
          </a:p>
        </p:txBody>
      </p:sp>
      <p:sp>
        <p:nvSpPr>
          <p:cNvPr id="194" name="Google Shape;194;p26"/>
          <p:cNvSpPr txBox="1"/>
          <p:nvPr>
            <p:ph idx="1" type="body"/>
          </p:nvPr>
        </p:nvSpPr>
        <p:spPr>
          <a:xfrm>
            <a:off x="311700" y="1040125"/>
            <a:ext cx="8520600" cy="3721200"/>
          </a:xfrm>
          <a:prstGeom prst="rect">
            <a:avLst/>
          </a:prstGeom>
        </p:spPr>
        <p:txBody>
          <a:bodyPr anchorCtr="0" anchor="t" bIns="91425" lIns="91425" spcFirstLastPara="1" rIns="91425" wrap="square" tIns="91425">
            <a:normAutofit fontScale="25000"/>
          </a:bodyPr>
          <a:lstStyle/>
          <a:p>
            <a:pPr indent="0" lvl="0" marL="0" rtl="0" algn="l">
              <a:spcBef>
                <a:spcPts val="0"/>
              </a:spcBef>
              <a:spcAft>
                <a:spcPts val="0"/>
              </a:spcAft>
              <a:buClr>
                <a:schemeClr val="dk1"/>
              </a:buClr>
              <a:buSzPts val="275"/>
              <a:buFont typeface="Arial"/>
              <a:buNone/>
            </a:pPr>
            <a:r>
              <a:rPr b="1" lang="en" sz="6800"/>
              <a:t>Scipy CG:</a:t>
            </a:r>
            <a:r>
              <a:rPr lang="en" sz="6800"/>
              <a:t> Its practicality for the majority of financial applications was demonstrated by the industry-standard implementation, which converged in just 50 iterations.</a:t>
            </a:r>
            <a:endParaRPr sz="6800"/>
          </a:p>
          <a:p>
            <a:pPr indent="0" lvl="0" marL="0" rtl="0" algn="l">
              <a:spcBef>
                <a:spcPts val="1200"/>
              </a:spcBef>
              <a:spcAft>
                <a:spcPts val="0"/>
              </a:spcAft>
              <a:buClr>
                <a:schemeClr val="dk1"/>
              </a:buClr>
              <a:buSzPts val="275"/>
              <a:buFont typeface="Arial"/>
              <a:buNone/>
            </a:pPr>
            <a:r>
              <a:rPr b="1" lang="en" sz="6800"/>
              <a:t>Custom CG:</a:t>
            </a:r>
            <a:r>
              <a:rPr lang="en" sz="6800"/>
              <a:t> Although it took longer (150 iterations), it achieved similar accuracy and validated the mathematical framework.</a:t>
            </a:r>
            <a:endParaRPr sz="6800"/>
          </a:p>
          <a:p>
            <a:pPr indent="0" lvl="0" marL="0" rtl="0" algn="l">
              <a:spcBef>
                <a:spcPts val="1200"/>
              </a:spcBef>
              <a:spcAft>
                <a:spcPts val="0"/>
              </a:spcAft>
              <a:buClr>
                <a:schemeClr val="dk1"/>
              </a:buClr>
              <a:buSzPts val="275"/>
              <a:buFont typeface="Arial"/>
              <a:buNone/>
            </a:pPr>
            <a:r>
              <a:rPr b="1" lang="en" sz="6800"/>
              <a:t>Training Efficiency: </a:t>
            </a:r>
            <a:r>
              <a:rPr lang="en" sz="6800"/>
              <a:t>Studies reveal that CG techniques, such as SCG, can finish training in minutes as opposed to hours for second-order techniques, such as Levenberg-Marquardt. This is a significant benefit for real-time applications.</a:t>
            </a:r>
            <a:endParaRPr sz="6800"/>
          </a:p>
          <a:p>
            <a:pPr indent="0" lvl="0" marL="0" rtl="0" algn="l">
              <a:spcBef>
                <a:spcPts val="1200"/>
              </a:spcBef>
              <a:spcAft>
                <a:spcPts val="0"/>
              </a:spcAft>
              <a:buClr>
                <a:schemeClr val="dk1"/>
              </a:buClr>
              <a:buSzPts val="275"/>
              <a:buFont typeface="Arial"/>
              <a:buNone/>
            </a:pPr>
            <a:r>
              <a:rPr b="1" lang="en" sz="6800"/>
              <a:t>Generalisation:</a:t>
            </a:r>
            <a:r>
              <a:rPr lang="en" sz="6800"/>
              <a:t> By lowering the chance of overfitting, neural networks trained with CG optimisation achieve exceptional generalisation (R-values of 0.99+) on unseen stock data</a:t>
            </a:r>
            <a:r>
              <a:rPr lang="en" sz="5200"/>
              <a:t>.</a:t>
            </a:r>
            <a:endParaRPr sz="5200"/>
          </a:p>
          <a:p>
            <a:pPr indent="0" lvl="0" marL="0" rtl="0" algn="l">
              <a:spcBef>
                <a:spcPts val="1200"/>
              </a:spcBef>
              <a:spcAft>
                <a:spcPts val="1200"/>
              </a:spcAft>
              <a:buNone/>
            </a:pPr>
            <a:r>
              <a:t/>
            </a:r>
            <a:endParaRPr/>
          </a:p>
        </p:txBody>
      </p:sp>
      <p:sp>
        <p:nvSpPr>
          <p:cNvPr id="195" name="Google Shape;195;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96" name="Google Shape;196;p26"/>
          <p:cNvSpPr/>
          <p:nvPr/>
        </p:nvSpPr>
        <p:spPr>
          <a:xfrm>
            <a:off x="208750" y="566600"/>
            <a:ext cx="354300" cy="252300"/>
          </a:xfrm>
          <a:prstGeom prst="homePlate">
            <a:avLst>
              <a:gd fmla="val 35452"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 name="Google Shape;197;p26"/>
          <p:cNvSpPr txBox="1"/>
          <p:nvPr/>
        </p:nvSpPr>
        <p:spPr>
          <a:xfrm>
            <a:off x="5861100" y="173000"/>
            <a:ext cx="3282900" cy="39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rgbClr val="999999"/>
                </a:solidFill>
              </a:rPr>
              <a:t>(results &amp; discussions continued……)</a:t>
            </a:r>
            <a:endParaRPr sz="18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200" u="sng"/>
              <a:t>Conclusion:</a:t>
            </a:r>
            <a:endParaRPr b="1" sz="2200" u="sng"/>
          </a:p>
        </p:txBody>
      </p:sp>
      <p:sp>
        <p:nvSpPr>
          <p:cNvPr id="203" name="Google Shape;203;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best option for developing production-grade, scalable stock price prediction systems is the Conjugate Gradient approach. The scalability and efficiency of Conjugate Gradient are crucial for real-world financial applications that involve large datasets and real-time predictions, whereas the Analytical Least Squares method works well for smaller datasets.</a:t>
            </a:r>
            <a:endParaRPr/>
          </a:p>
        </p:txBody>
      </p:sp>
      <p:sp>
        <p:nvSpPr>
          <p:cNvPr id="204" name="Google Shape;204;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10" name="Google Shape;210;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11" name="Google Shape;211;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9"/>
          <p:cNvSpPr txBox="1"/>
          <p:nvPr>
            <p:ph type="title"/>
          </p:nvPr>
        </p:nvSpPr>
        <p:spPr>
          <a:xfrm>
            <a:off x="311700" y="153200"/>
            <a:ext cx="8520600" cy="55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100" u="sng"/>
              <a:t>Citation:</a:t>
            </a:r>
            <a:endParaRPr b="1" sz="2100" u="sng"/>
          </a:p>
        </p:txBody>
      </p:sp>
      <p:sp>
        <p:nvSpPr>
          <p:cNvPr id="217" name="Google Shape;217;p29"/>
          <p:cNvSpPr txBox="1"/>
          <p:nvPr>
            <p:ph idx="1" type="body"/>
          </p:nvPr>
        </p:nvSpPr>
        <p:spPr>
          <a:xfrm>
            <a:off x="311700" y="712100"/>
            <a:ext cx="8520600" cy="294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Roboto"/>
                <a:ea typeface="Roboto"/>
                <a:cs typeface="Roboto"/>
                <a:sym typeface="Roboto"/>
              </a:rPr>
              <a:t>Research methodology for applying Fibonacci numbers in financial markets: </a:t>
            </a:r>
            <a:r>
              <a:rPr lang="en" sz="1200" u="sng">
                <a:solidFill>
                  <a:schemeClr val="hlink"/>
                </a:solidFill>
                <a:latin typeface="Roboto"/>
                <a:ea typeface="Roboto"/>
                <a:cs typeface="Roboto"/>
                <a:sym typeface="Roboto"/>
                <a:hlinkClick r:id="rId3"/>
              </a:rPr>
              <a:t>https://patents.google.com/patent/US6877094B1/en</a:t>
            </a:r>
            <a:endParaRPr sz="1200">
              <a:solidFill>
                <a:schemeClr val="dk1"/>
              </a:solidFill>
              <a:latin typeface="Roboto"/>
              <a:ea typeface="Roboto"/>
              <a:cs typeface="Roboto"/>
              <a:sym typeface="Roboto"/>
            </a:endParaRPr>
          </a:p>
          <a:p>
            <a:pPr indent="0" lvl="0" marL="0" rtl="0" algn="l">
              <a:spcBef>
                <a:spcPts val="1200"/>
              </a:spcBef>
              <a:spcAft>
                <a:spcPts val="0"/>
              </a:spcAft>
              <a:buNone/>
            </a:pPr>
            <a:r>
              <a:rPr lang="en">
                <a:solidFill>
                  <a:schemeClr val="dk1"/>
                </a:solidFill>
                <a:latin typeface="Roboto"/>
                <a:ea typeface="Roboto"/>
                <a:cs typeface="Roboto"/>
                <a:sym typeface="Roboto"/>
              </a:rPr>
              <a:t>Step-by-step Python implementation and explanation on Towards Data Science: </a:t>
            </a:r>
            <a:r>
              <a:rPr lang="en" sz="1200" u="sng">
                <a:solidFill>
                  <a:schemeClr val="hlink"/>
                </a:solidFill>
                <a:latin typeface="Roboto"/>
                <a:ea typeface="Roboto"/>
                <a:cs typeface="Roboto"/>
                <a:sym typeface="Roboto"/>
                <a:hlinkClick r:id="rId4"/>
              </a:rPr>
              <a:t>https://towardsdatascience.com/complete-step-by-step-conjugate-gradient-algorithm-from-scratch-and-its-implementation-for-solving-3a4f9d1b4aa1</a:t>
            </a:r>
            <a:endParaRPr sz="1200">
              <a:solidFill>
                <a:schemeClr val="dk1"/>
              </a:solidFill>
              <a:latin typeface="Roboto"/>
              <a:ea typeface="Roboto"/>
              <a:cs typeface="Roboto"/>
              <a:sym typeface="Roboto"/>
            </a:endParaRPr>
          </a:p>
          <a:p>
            <a:pPr indent="0" lvl="0" marL="0" rtl="0" algn="l">
              <a:spcBef>
                <a:spcPts val="1200"/>
              </a:spcBef>
              <a:spcAft>
                <a:spcPts val="0"/>
              </a:spcAft>
              <a:buNone/>
            </a:pPr>
            <a:r>
              <a:rPr lang="en">
                <a:solidFill>
                  <a:schemeClr val="dk1"/>
                </a:solidFill>
                <a:latin typeface="Roboto"/>
                <a:ea typeface="Roboto"/>
                <a:cs typeface="Roboto"/>
                <a:sym typeface="Roboto"/>
              </a:rPr>
              <a:t>ScienceDirect article summarizing the origins and details of the method: </a:t>
            </a:r>
            <a:r>
              <a:rPr lang="en" sz="1200" u="sng">
                <a:solidFill>
                  <a:schemeClr val="hlink"/>
                </a:solidFill>
                <a:latin typeface="Roboto"/>
                <a:ea typeface="Roboto"/>
                <a:cs typeface="Roboto"/>
                <a:sym typeface="Roboto"/>
                <a:hlinkClick r:id="rId5"/>
              </a:rPr>
              <a:t>https://www.sciencedirect.com/topics/mathematics/conjugate-gradient-method</a:t>
            </a:r>
            <a:endParaRPr sz="1200">
              <a:solidFill>
                <a:schemeClr val="dk1"/>
              </a:solidFill>
              <a:latin typeface="Roboto"/>
              <a:ea typeface="Roboto"/>
              <a:cs typeface="Roboto"/>
              <a:sym typeface="Roboto"/>
            </a:endParaRPr>
          </a:p>
          <a:p>
            <a:pPr indent="0" lvl="0" marL="0" rtl="0" algn="l">
              <a:spcBef>
                <a:spcPts val="1200"/>
              </a:spcBef>
              <a:spcAft>
                <a:spcPts val="1200"/>
              </a:spcAft>
              <a:buNone/>
            </a:pPr>
            <a:r>
              <a:rPr lang="en">
                <a:solidFill>
                  <a:schemeClr val="dk1"/>
                </a:solidFill>
                <a:latin typeface="Roboto"/>
                <a:ea typeface="Roboto"/>
                <a:cs typeface="Roboto"/>
                <a:sym typeface="Roboto"/>
              </a:rPr>
              <a:t>NASDAQ official site for historical stock data: </a:t>
            </a:r>
            <a:r>
              <a:rPr lang="en" sz="1200" u="sng">
                <a:solidFill>
                  <a:schemeClr val="hlink"/>
                </a:solidFill>
                <a:latin typeface="Roboto"/>
                <a:ea typeface="Roboto"/>
                <a:cs typeface="Roboto"/>
                <a:sym typeface="Roboto"/>
                <a:hlinkClick r:id="rId6"/>
              </a:rPr>
              <a:t>https://www.nasdaq.com/market-activity/historical-data</a:t>
            </a:r>
            <a:endParaRPr sz="1200">
              <a:solidFill>
                <a:schemeClr val="dk1"/>
              </a:solidFill>
              <a:latin typeface="Roboto"/>
              <a:ea typeface="Roboto"/>
              <a:cs typeface="Roboto"/>
              <a:sym typeface="Roboto"/>
            </a:endParaRPr>
          </a:p>
        </p:txBody>
      </p:sp>
      <p:sp>
        <p:nvSpPr>
          <p:cNvPr id="218" name="Google Shape;218;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19" name="Google Shape;219;p29"/>
          <p:cNvSpPr txBox="1"/>
          <p:nvPr>
            <p:ph type="title"/>
          </p:nvPr>
        </p:nvSpPr>
        <p:spPr>
          <a:xfrm>
            <a:off x="311700" y="3879563"/>
            <a:ext cx="8520600" cy="55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100" u="sng"/>
              <a:t>Deliverables</a:t>
            </a:r>
            <a:r>
              <a:rPr b="1" lang="en" sz="2100" u="sng"/>
              <a:t>:</a:t>
            </a:r>
            <a:endParaRPr b="1" sz="2100" u="sng"/>
          </a:p>
        </p:txBody>
      </p:sp>
      <p:sp>
        <p:nvSpPr>
          <p:cNvPr id="220" name="Google Shape;220;p29"/>
          <p:cNvSpPr txBox="1"/>
          <p:nvPr>
            <p:ph type="title"/>
          </p:nvPr>
        </p:nvSpPr>
        <p:spPr>
          <a:xfrm>
            <a:off x="311700" y="4420475"/>
            <a:ext cx="8520600" cy="55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solidFill>
                  <a:srgbClr val="666666"/>
                </a:solidFill>
              </a:rPr>
              <a:t>Code and Plots: </a:t>
            </a:r>
            <a:r>
              <a:rPr lang="en" sz="1200" u="sng">
                <a:solidFill>
                  <a:schemeClr val="hlink"/>
                </a:solidFill>
                <a:hlinkClick r:id="rId7"/>
              </a:rPr>
              <a:t>https://github.com/SannidhyaDas/StockPriceOptimizer-CG-Fibonacci</a:t>
            </a:r>
            <a:endParaRPr sz="1200">
              <a:solidFill>
                <a:srgbClr val="666666"/>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